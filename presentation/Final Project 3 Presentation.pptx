
<file path=[Content_Types].xml><?xml version="1.0" encoding="utf-8"?>
<Types xmlns="http://schemas.openxmlformats.org/package/2006/content-types">
  <Default Extension="fntdata" ContentType="application/x-fontdata"/>
  <Default Extension="jpeg" ContentType="image/jpeg"/>
  <Default Extension="mp3" ContentType="audio/m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4"/>
  </p:notesMasterIdLst>
  <p:sldIdLst>
    <p:sldId id="256" r:id="rId5"/>
    <p:sldId id="257" r:id="rId6"/>
    <p:sldId id="258" r:id="rId7"/>
    <p:sldId id="259" r:id="rId8"/>
    <p:sldId id="260" r:id="rId9"/>
    <p:sldId id="275" r:id="rId10"/>
    <p:sldId id="264" r:id="rId11"/>
    <p:sldId id="278" r:id="rId12"/>
    <p:sldId id="269" r:id="rId13"/>
    <p:sldId id="262" r:id="rId14"/>
    <p:sldId id="276" r:id="rId15"/>
    <p:sldId id="265" r:id="rId16"/>
    <p:sldId id="266" r:id="rId17"/>
    <p:sldId id="270" r:id="rId18"/>
    <p:sldId id="279" r:id="rId19"/>
    <p:sldId id="272" r:id="rId20"/>
    <p:sldId id="273" r:id="rId21"/>
    <p:sldId id="261" r:id="rId22"/>
    <p:sldId id="267" r:id="rId23"/>
  </p:sldIdLst>
  <p:sldSz cx="18288000" cy="10287000"/>
  <p:notesSz cx="6858000" cy="9144000"/>
  <p:embeddedFontLst>
    <p:embeddedFont>
      <p:font typeface="Bitter" panose="02000000000000000000" pitchFamily="2" charset="77"/>
      <p:regular r:id="rId25"/>
    </p:embeddedFont>
    <p:embeddedFont>
      <p:font typeface="Bitter Bold" panose="02000000000000000000"/>
      <p:regular r:id="rId26"/>
      <p:bold r:id="rId27"/>
    </p:embeddedFont>
    <p:embeddedFont>
      <p:font typeface="Consolas" panose="020B0609020204030204" pitchFamily="49" charset="0"/>
      <p:regular r:id="rId28"/>
      <p:bold r:id="rId29"/>
      <p:italic r:id="rId30"/>
      <p:boldItalic r:id="rId31"/>
    </p:embeddedFont>
    <p:embeddedFont>
      <p:font typeface="Handelson Six"/>
      <p:regular r:id="rId32"/>
    </p:embeddedFont>
    <p:embeddedFont>
      <p:font typeface="Lumios Marker"/>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ONE" id="{4A72AE45-D391-9C4E-AC53-5E3C5E28363C}">
          <p14:sldIdLst>
            <p14:sldId id="256"/>
            <p14:sldId id="257"/>
            <p14:sldId id="258"/>
            <p14:sldId id="259"/>
            <p14:sldId id="260"/>
            <p14:sldId id="275"/>
            <p14:sldId id="264"/>
            <p14:sldId id="278"/>
            <p14:sldId id="269"/>
            <p14:sldId id="262"/>
            <p14:sldId id="276"/>
            <p14:sldId id="265"/>
            <p14:sldId id="266"/>
            <p14:sldId id="270"/>
            <p14:sldId id="279"/>
            <p14:sldId id="272"/>
            <p14:sldId id="273"/>
            <p14:sldId id="261"/>
            <p14:sldId id="26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C5F"/>
    <a:srgbClr val="047A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922785-2301-7944-9D3E-39F8FDC62117}" v="3055" dt="2026-04-27T03:47:52.755"/>
    <p1510:client id="{4A9A4AAA-73C0-CC96-491A-F7357498A454}" v="282" dt="2026-04-27T03:45:31.024"/>
    <p1510:client id="{50DDC4D8-D00A-1BC7-80A4-4DAE8EA259A4}" v="489" dt="2026-04-27T03:15:24.054"/>
    <p1510:client id="{772A8F28-2ABB-4BA1-865B-BFD045C92460}" v="2097" dt="2026-04-27T03:22:43.859"/>
    <p1510:client id="{96BCEDE4-C3A7-7E58-B76A-DE88F7735FC2}" v="8" dt="2026-04-27T02:20:10.544"/>
    <p1510:client id="{A6E6DDD3-9DE6-165E-45CC-F887C14080C3}" v="165" dt="2026-04-27T03:35:37.155"/>
    <p1510:client id="{A8D6F64C-6B0A-A64C-C395-48DAEBF99C7C}" v="63" dt="2026-04-27T02:16:50.835"/>
    <p1510:client id="{ED35BCED-F704-7786-D12A-CA4C8AC09A33}" v="123" dt="2026-04-27T04:48:54.3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87" autoAdjust="0"/>
    <p:restoredTop sz="73620" autoAdjust="0"/>
  </p:normalViewPr>
  <p:slideViewPr>
    <p:cSldViewPr>
      <p:cViewPr>
        <p:scale>
          <a:sx n="63" d="100"/>
          <a:sy n="63" d="100"/>
        </p:scale>
        <p:origin x="136" y="2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font" Target="fonts/font9.fntdata"/><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2D30F-130F-0C40-8734-E17309D0E266}" type="datetimeFigureOut">
              <a:rPr lang="en-US" smtClean="0"/>
              <a:t>4/27/26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0CE8D1-802C-6D45-BEE5-F75C398AC7A5}" type="slidenum">
              <a:rPr lang="en-US" smtClean="0"/>
              <a:t>‹#›</a:t>
            </a:fld>
            <a:endParaRPr lang="en-US"/>
          </a:p>
        </p:txBody>
      </p:sp>
    </p:spTree>
    <p:extLst>
      <p:ext uri="{BB962C8B-B14F-4D97-AF65-F5344CB8AC3E}">
        <p14:creationId xmlns:p14="http://schemas.microsoft.com/office/powerpoint/2010/main" val="3263248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a:t>
            </a:r>
          </a:p>
          <a:p>
            <a:r>
              <a:rPr lang="en-US" i="0" dirty="0"/>
              <a:t>Our project, Miami-Dade: 311 Requests and Crime Analysis, examines data from 2017 to 2019 to explore relationships between service requests and crime patterns.</a:t>
            </a:r>
          </a:p>
          <a:p>
            <a:endParaRPr lang="en-US" i="0" dirty="0"/>
          </a:p>
          <a:p>
            <a:r>
              <a:rPr lang="en-US" i="0" dirty="0"/>
              <a:t>This was completed for LIS 4761: Data and Text Mining by our team.</a:t>
            </a:r>
          </a:p>
          <a:p>
            <a:r>
              <a:rPr lang="en-US" i="0" dirty="0"/>
              <a:t>We’ll briefly cover our data, methods, and key findings.</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480CE8D1-802C-6D45-BEE5-F75C398AC7A5}" type="slidenum">
              <a:rPr lang="en-US" smtClean="0"/>
              <a:t>1</a:t>
            </a:fld>
            <a:endParaRPr lang="en-US"/>
          </a:p>
        </p:txBody>
      </p:sp>
    </p:spTree>
    <p:extLst>
      <p:ext uri="{BB962C8B-B14F-4D97-AF65-F5344CB8AC3E}">
        <p14:creationId xmlns:p14="http://schemas.microsoft.com/office/powerpoint/2010/main" val="1729733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cs typeface="+mn-lt"/>
              </a:rPr>
              <a:t>Zara</a:t>
            </a:r>
            <a:br>
              <a:rPr lang="en-US" dirty="0">
                <a:cs typeface="+mn-lt"/>
              </a:rPr>
            </a:br>
            <a:br>
              <a:rPr lang="en-US" dirty="0">
                <a:cs typeface="+mn-lt"/>
              </a:rPr>
            </a:br>
            <a:r>
              <a:rPr lang="en-US" dirty="0"/>
              <a:t>Here’s a quick overview of our presentation.</a:t>
            </a:r>
          </a:p>
          <a:p>
            <a:br>
              <a:rPr lang="en-US" dirty="0">
                <a:cs typeface="+mn-lt"/>
              </a:rPr>
            </a:br>
            <a:r>
              <a:rPr lang="en-US" dirty="0"/>
              <a:t>We’ll start with our project goal and key questions, then introduce the datasets we used.</a:t>
            </a:r>
          </a:p>
          <a:p>
            <a:br>
              <a:rPr lang="en-US" dirty="0">
                <a:cs typeface="+mn-lt"/>
              </a:rPr>
            </a:br>
            <a:r>
              <a:rPr lang="en-US" dirty="0"/>
              <a:t>Next, we’ll walk through our methodology and data preparation process, followed by our analysis methods.</a:t>
            </a:r>
          </a:p>
          <a:p>
            <a:br>
              <a:rPr lang="en-US" dirty="0">
                <a:cs typeface="+mn-lt"/>
              </a:rPr>
            </a:br>
            <a:r>
              <a:rPr lang="en-US" dirty="0"/>
              <a:t>After that, we’ll present our results, including trends, comparisons, and text analysis.</a:t>
            </a:r>
          </a:p>
          <a:p>
            <a:br>
              <a:rPr lang="en-US" dirty="0">
                <a:cs typeface="+mn-lt"/>
              </a:rPr>
            </a:br>
            <a:r>
              <a:rPr lang="en-US" dirty="0"/>
              <a:t>Finally, we’ll summarize our key findings, discuss practical implications, and conclude with team contributions.</a:t>
            </a:r>
          </a:p>
          <a:p>
            <a:endParaRPr lang="en-US" dirty="0"/>
          </a:p>
        </p:txBody>
      </p:sp>
      <p:sp>
        <p:nvSpPr>
          <p:cNvPr id="4" name="Slide Number Placeholder 3"/>
          <p:cNvSpPr>
            <a:spLocks noGrp="1"/>
          </p:cNvSpPr>
          <p:nvPr>
            <p:ph type="sldNum" sz="quarter" idx="5"/>
          </p:nvPr>
        </p:nvSpPr>
        <p:spPr/>
        <p:txBody>
          <a:bodyPr/>
          <a:lstStyle/>
          <a:p>
            <a:fld id="{480CE8D1-802C-6D45-BEE5-F75C398AC7A5}" type="slidenum">
              <a:rPr lang="en-US" smtClean="0"/>
              <a:t>2</a:t>
            </a:fld>
            <a:endParaRPr lang="en-US"/>
          </a:p>
        </p:txBody>
      </p:sp>
    </p:spTree>
    <p:extLst>
      <p:ext uri="{BB962C8B-B14F-4D97-AF65-F5344CB8AC3E}">
        <p14:creationId xmlns:p14="http://schemas.microsoft.com/office/powerpoint/2010/main" val="1741315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Zara</a:t>
            </a:r>
          </a:p>
          <a:p>
            <a:endParaRPr lang="en-US" dirty="0"/>
          </a:p>
          <a:p>
            <a:r>
              <a:rPr lang="en-US" dirty="0"/>
              <a:t>For this project, our goal was to analyze patterns in 311 service requests across Miami-Dade County from 2017 to 2019.</a:t>
            </a:r>
          </a:p>
          <a:p>
            <a:endParaRPr lang="en-US" dirty="0"/>
          </a:p>
          <a:p>
            <a:r>
              <a:rPr lang="en-US" dirty="0"/>
              <a:t>We then compared these complaint patterns with property crime data from the same time period to see how they relate.</a:t>
            </a:r>
          </a:p>
          <a:p>
            <a:endParaRPr lang="en-US" dirty="0"/>
          </a:p>
          <a:p>
            <a:r>
              <a:rPr lang="en-US" dirty="0"/>
              <a:t>Specifically, we wanted to identify whether there is any relationship between what residents are reporting, like complaints or service requests, and actual crime levels.</a:t>
            </a:r>
          </a:p>
          <a:p>
            <a:endParaRPr lang="en-US" dirty="0"/>
          </a:p>
          <a:p>
            <a:r>
              <a:rPr lang="en-US" dirty="0"/>
              <a:t>Overall, this helps us better understand whether public concerns reflect real-world crime trends in the county.</a:t>
            </a:r>
          </a:p>
          <a:p>
            <a:endParaRPr lang="en-US" dirty="0"/>
          </a:p>
        </p:txBody>
      </p:sp>
      <p:sp>
        <p:nvSpPr>
          <p:cNvPr id="4" name="Slide Number Placeholder 3"/>
          <p:cNvSpPr>
            <a:spLocks noGrp="1"/>
          </p:cNvSpPr>
          <p:nvPr>
            <p:ph type="sldNum" sz="quarter" idx="5"/>
          </p:nvPr>
        </p:nvSpPr>
        <p:spPr/>
        <p:txBody>
          <a:bodyPr/>
          <a:lstStyle/>
          <a:p>
            <a:fld id="{480CE8D1-802C-6D45-BEE5-F75C398AC7A5}" type="slidenum">
              <a:rPr lang="en-US" smtClean="0"/>
              <a:t>3</a:t>
            </a:fld>
            <a:endParaRPr lang="en-US"/>
          </a:p>
        </p:txBody>
      </p:sp>
    </p:spTree>
    <p:extLst>
      <p:ext uri="{BB962C8B-B14F-4D97-AF65-F5344CB8AC3E}">
        <p14:creationId xmlns:p14="http://schemas.microsoft.com/office/powerpoint/2010/main" val="690067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Johnny</a:t>
            </a:r>
          </a:p>
          <a:p>
            <a:endParaRPr lang="en-US" dirty="0"/>
          </a:p>
          <a:p>
            <a:r>
              <a:rPr lang="en-US" dirty="0"/>
              <a:t>We outlined the key questions guiding our analysis.</a:t>
            </a:r>
          </a:p>
          <a:p>
            <a:endParaRPr lang="en-US" dirty="0"/>
          </a:p>
          <a:p>
            <a:r>
              <a:rPr lang="en-US" dirty="0"/>
              <a:t>First, we wanted to understand how 311 service requests changed over time in Miami-Dade County between 2017 and 2019.</a:t>
            </a:r>
          </a:p>
          <a:p>
            <a:endParaRPr lang="en-US" dirty="0"/>
          </a:p>
          <a:p>
            <a:r>
              <a:rPr lang="en-US" dirty="0"/>
              <a:t>Next, we looked at the most common types of complaints to see what issues residents report most frequently.</a:t>
            </a:r>
          </a:p>
          <a:p>
            <a:endParaRPr lang="en-US" dirty="0"/>
          </a:p>
          <a:p>
            <a:r>
              <a:rPr lang="en-US" dirty="0"/>
              <a:t>We also analyzed how property crime trends changed over the same time period.</a:t>
            </a:r>
          </a:p>
          <a:p>
            <a:endParaRPr lang="en-US" dirty="0"/>
          </a:p>
          <a:p>
            <a:r>
              <a:rPr lang="en-US" dirty="0"/>
              <a:t>Finally, we explored whether there is any relationship between citizen complaints and crime trends, which is the main focus of our project.</a:t>
            </a:r>
          </a:p>
          <a:p>
            <a:endParaRPr lang="en-US" dirty="0"/>
          </a:p>
        </p:txBody>
      </p:sp>
      <p:sp>
        <p:nvSpPr>
          <p:cNvPr id="4" name="Slide Number Placeholder 3"/>
          <p:cNvSpPr>
            <a:spLocks noGrp="1"/>
          </p:cNvSpPr>
          <p:nvPr>
            <p:ph type="sldNum" sz="quarter" idx="5"/>
          </p:nvPr>
        </p:nvSpPr>
        <p:spPr/>
        <p:txBody>
          <a:bodyPr/>
          <a:lstStyle/>
          <a:p>
            <a:fld id="{480CE8D1-802C-6D45-BEE5-F75C398AC7A5}" type="slidenum">
              <a:rPr lang="en-US" smtClean="0"/>
              <a:t>4</a:t>
            </a:fld>
            <a:endParaRPr lang="en-US"/>
          </a:p>
        </p:txBody>
      </p:sp>
    </p:spTree>
    <p:extLst>
      <p:ext uri="{BB962C8B-B14F-4D97-AF65-F5344CB8AC3E}">
        <p14:creationId xmlns:p14="http://schemas.microsoft.com/office/powerpoint/2010/main" val="127556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Johnny</a:t>
            </a:r>
          </a:p>
          <a:p>
            <a:endParaRPr lang="en-US" dirty="0"/>
          </a:p>
          <a:p>
            <a:r>
              <a:rPr lang="en-US" dirty="0"/>
              <a:t>This dataset comes from the Miami-Dade Open Data Portal and includes all 311 service requests submitted between 2017 and 2019.</a:t>
            </a:r>
          </a:p>
          <a:p>
            <a:endParaRPr lang="en-US" dirty="0"/>
          </a:p>
          <a:p>
            <a:r>
              <a:rPr lang="en-US" dirty="0"/>
              <a:t>Each year contains over 300,000 records, giving us nearly one million total observations to analyze.</a:t>
            </a:r>
          </a:p>
          <a:p>
            <a:endParaRPr lang="en-US" dirty="0"/>
          </a:p>
          <a:p>
            <a:r>
              <a:rPr lang="en-US" dirty="0"/>
              <a:t>These records represent requests submitted by residents for services like trash pickup, potholes, and other local issues.</a:t>
            </a:r>
          </a:p>
          <a:p>
            <a:endParaRPr lang="en-US" dirty="0"/>
          </a:p>
          <a:p>
            <a:r>
              <a:rPr lang="en-US" dirty="0"/>
              <a:t>For our analysis, we focused on key variables such as the type of complaint, when the request was created, the location, and the case description.</a:t>
            </a:r>
          </a:p>
          <a:p>
            <a:endParaRPr lang="en-US" dirty="0"/>
          </a:p>
          <a:p>
            <a:r>
              <a:rPr lang="en-US" dirty="0"/>
              <a:t>The case description is especially important because it allows us to perform text mining and identify common complaint themes.</a:t>
            </a:r>
          </a:p>
          <a:p>
            <a:endParaRPr lang="en-US" dirty="0"/>
          </a:p>
        </p:txBody>
      </p:sp>
      <p:sp>
        <p:nvSpPr>
          <p:cNvPr id="4" name="Slide Number Placeholder 3"/>
          <p:cNvSpPr>
            <a:spLocks noGrp="1"/>
          </p:cNvSpPr>
          <p:nvPr>
            <p:ph type="sldNum" sz="quarter" idx="5"/>
          </p:nvPr>
        </p:nvSpPr>
        <p:spPr/>
        <p:txBody>
          <a:bodyPr/>
          <a:lstStyle/>
          <a:p>
            <a:fld id="{480CE8D1-802C-6D45-BEE5-F75C398AC7A5}" type="slidenum">
              <a:rPr lang="en-US" smtClean="0"/>
              <a:t>5</a:t>
            </a:fld>
            <a:endParaRPr lang="en-US"/>
          </a:p>
        </p:txBody>
      </p:sp>
    </p:spTree>
    <p:extLst>
      <p:ext uri="{BB962C8B-B14F-4D97-AF65-F5344CB8AC3E}">
        <p14:creationId xmlns:p14="http://schemas.microsoft.com/office/powerpoint/2010/main" val="3822870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7D667-2D30-AAC3-5B24-66241985EA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4D4C5-B660-DA4C-56C9-68F4B7FE43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CAC5E63-13DF-EEAD-0AAE-C2CA0C4BD36A}"/>
              </a:ext>
            </a:extLst>
          </p:cNvPr>
          <p:cNvSpPr>
            <a:spLocks noGrp="1"/>
          </p:cNvSpPr>
          <p:nvPr>
            <p:ph type="body" idx="1"/>
          </p:nvPr>
        </p:nvSpPr>
        <p:spPr/>
        <p:txBody>
          <a:bodyPr/>
          <a:lstStyle/>
          <a:p>
            <a:r>
              <a:rPr lang="en-US" dirty="0">
                <a:cs typeface="+mn-lt"/>
              </a:rPr>
              <a:t>Wesley</a:t>
            </a:r>
          </a:p>
          <a:p>
            <a:br>
              <a:rPr lang="en-US" dirty="0">
                <a:cs typeface="+mn-lt"/>
              </a:rPr>
            </a:br>
            <a:r>
              <a:rPr lang="en-US" dirty="0"/>
              <a:t>This dataset comes from the Florida Department of Law Enforcement and covers property crime in Miami-Dade County from 2017 to 2019. Unlike the 311 data which shows what citizens were reporting, this one captures officially recorded crime incidents. We focused on four main categories — burglary, larceny, motor vehicle theft, and total property crime. Having this alongside the 311 data lets us see if what people were complaining about actually lines up with what was being reported as crime.</a:t>
            </a:r>
          </a:p>
        </p:txBody>
      </p:sp>
      <p:sp>
        <p:nvSpPr>
          <p:cNvPr id="4" name="Slide Number Placeholder 3">
            <a:extLst>
              <a:ext uri="{FF2B5EF4-FFF2-40B4-BE49-F238E27FC236}">
                <a16:creationId xmlns:a16="http://schemas.microsoft.com/office/drawing/2014/main" id="{EF5A71F0-279D-516E-02A7-A7EAEDFB85E7}"/>
              </a:ext>
            </a:extLst>
          </p:cNvPr>
          <p:cNvSpPr>
            <a:spLocks noGrp="1"/>
          </p:cNvSpPr>
          <p:nvPr>
            <p:ph type="sldNum" sz="quarter" idx="5"/>
          </p:nvPr>
        </p:nvSpPr>
        <p:spPr/>
        <p:txBody>
          <a:bodyPr/>
          <a:lstStyle/>
          <a:p>
            <a:fld id="{480CE8D1-802C-6D45-BEE5-F75C398AC7A5}" type="slidenum">
              <a:rPr lang="en-US" smtClean="0"/>
              <a:t>6</a:t>
            </a:fld>
            <a:endParaRPr lang="en-US"/>
          </a:p>
        </p:txBody>
      </p:sp>
    </p:spTree>
    <p:extLst>
      <p:ext uri="{BB962C8B-B14F-4D97-AF65-F5344CB8AC3E}">
        <p14:creationId xmlns:p14="http://schemas.microsoft.com/office/powerpoint/2010/main" val="812018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Wesley </a:t>
            </a:r>
          </a:p>
          <a:p>
            <a:endParaRPr lang="en-US"/>
          </a:p>
          <a:p>
            <a:r>
              <a:rPr lang="en-US"/>
              <a:t>For our analytical approach we used three main methods. First was exploratory data analysis — we looked at the distributions of both datasets, identified trends over time, and cleaned up anything that would've gotten in the way of the analysis. Second was visualization, where we used ggplot2 to build charts that made those trends actually readable. And third was text mining, where Nicholas applied word frequency and TF-IDF to the complaint descriptions to pull out the most common themes citizens were reporting. Together these three methods let us go from raw data to actual insights about the relationship between complaints and crime in Miami-Dade</a:t>
            </a:r>
          </a:p>
        </p:txBody>
      </p:sp>
      <p:sp>
        <p:nvSpPr>
          <p:cNvPr id="4" name="Slide Number Placeholder 3"/>
          <p:cNvSpPr>
            <a:spLocks noGrp="1"/>
          </p:cNvSpPr>
          <p:nvPr>
            <p:ph type="sldNum" sz="quarter" idx="5"/>
          </p:nvPr>
        </p:nvSpPr>
        <p:spPr/>
        <p:txBody>
          <a:bodyPr/>
          <a:lstStyle/>
          <a:p>
            <a:fld id="{480CE8D1-802C-6D45-BEE5-F75C398AC7A5}" type="slidenum">
              <a:rPr lang="en-US" smtClean="0"/>
              <a:t>7</a:t>
            </a:fld>
            <a:endParaRPr lang="en-US"/>
          </a:p>
        </p:txBody>
      </p:sp>
    </p:spTree>
    <p:extLst>
      <p:ext uri="{BB962C8B-B14F-4D97-AF65-F5344CB8AC3E}">
        <p14:creationId xmlns:p14="http://schemas.microsoft.com/office/powerpoint/2010/main" val="3204328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Wesley this slide is yours too</a:t>
            </a:r>
            <a:br>
              <a:rPr lang="en-US">
                <a:cs typeface="+mn-lt"/>
              </a:rPr>
            </a:br>
            <a:br>
              <a:rPr lang="en-US">
                <a:cs typeface="+mn-lt"/>
              </a:rPr>
            </a:br>
            <a:br>
              <a:rPr lang="en-US">
                <a:cs typeface="+mn-lt"/>
              </a:rPr>
            </a:br>
            <a:br>
              <a:rPr lang="en-US">
                <a:cs typeface="+mn-lt"/>
              </a:rPr>
            </a:br>
            <a:r>
              <a:rPr lang="en-US"/>
              <a:t>We applied several course methods including exploratory data analysis, time-series visualization, and comparative analysis. </a:t>
            </a:r>
          </a:p>
          <a:p>
            <a:endParaRPr lang="en-US"/>
          </a:p>
          <a:p>
            <a:r>
              <a:rPr lang="en-US"/>
              <a:t>This project pulled from a few different parts of the course. We used exploratory data analysis to understand our datasets before doing anything with them. We checked distributions, handling missing values, filtering down to what mattered. For visualization we used ggplot2 to build the charts and trend lines. And for text mining Nicholas applied word frequency and TF-IDF to pull themes out of the actual complaint text</a:t>
            </a:r>
          </a:p>
          <a:p>
            <a:endParaRPr lang="en-US"/>
          </a:p>
        </p:txBody>
      </p:sp>
      <p:sp>
        <p:nvSpPr>
          <p:cNvPr id="4" name="Slide Number Placeholder 3"/>
          <p:cNvSpPr>
            <a:spLocks noGrp="1"/>
          </p:cNvSpPr>
          <p:nvPr>
            <p:ph type="sldNum" sz="quarter" idx="5"/>
          </p:nvPr>
        </p:nvSpPr>
        <p:spPr/>
        <p:txBody>
          <a:bodyPr/>
          <a:lstStyle/>
          <a:p>
            <a:fld id="{480CE8D1-802C-6D45-BEE5-F75C398AC7A5}" type="slidenum">
              <a:rPr lang="en-US" smtClean="0"/>
              <a:t>8</a:t>
            </a:fld>
            <a:endParaRPr lang="en-US"/>
          </a:p>
        </p:txBody>
      </p:sp>
    </p:spTree>
    <p:extLst>
      <p:ext uri="{BB962C8B-B14F-4D97-AF65-F5344CB8AC3E}">
        <p14:creationId xmlns:p14="http://schemas.microsoft.com/office/powerpoint/2010/main" val="3173748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br>
              <a:rPr lang="en-US" dirty="0">
                <a:cs typeface="+mn-lt"/>
              </a:rPr>
            </a:br>
            <a:r>
              <a:rPr lang="en-US" dirty="0"/>
              <a:t>Johnny</a:t>
            </a:r>
          </a:p>
          <a:p>
            <a:endParaRPr lang="en-US" dirty="0"/>
          </a:p>
          <a:p>
            <a:r>
              <a:rPr lang="en-US" dirty="0"/>
              <a:t>We prepared the data in two parts. </a:t>
            </a:r>
          </a:p>
          <a:p>
            <a:endParaRPr lang="en-US" dirty="0"/>
          </a:p>
          <a:p>
            <a:r>
              <a:rPr lang="en-US" dirty="0"/>
              <a:t>First, we cleaned the 311 service request files by loading the 2017, 2018, and 2019 datasets, filling missing issue descriptions, converting date fields, and creating a year variable. </a:t>
            </a:r>
          </a:p>
          <a:p>
            <a:endParaRPr lang="en-US" dirty="0"/>
          </a:p>
          <a:p>
            <a:r>
              <a:rPr lang="en-US" dirty="0"/>
              <a:t>Then we combined the yearly files into one cleaned dataset. </a:t>
            </a:r>
          </a:p>
          <a:p>
            <a:endParaRPr lang="en-US" dirty="0"/>
          </a:p>
          <a:p>
            <a:r>
              <a:rPr lang="en-US" dirty="0"/>
              <a:t>For the crime data, we loaded the FDLE property crime files, filtered them to Miami-Dade County, selected the key property crime variables, and merged them with the 311 totals by year so the two datasets could be compared directly.</a:t>
            </a:r>
          </a:p>
        </p:txBody>
      </p:sp>
      <p:sp>
        <p:nvSpPr>
          <p:cNvPr id="4" name="Slide Number Placeholder 3"/>
          <p:cNvSpPr>
            <a:spLocks noGrp="1"/>
          </p:cNvSpPr>
          <p:nvPr>
            <p:ph type="sldNum" sz="quarter" idx="5"/>
          </p:nvPr>
        </p:nvSpPr>
        <p:spPr/>
        <p:txBody>
          <a:bodyPr/>
          <a:lstStyle/>
          <a:p>
            <a:fld id="{480CE8D1-802C-6D45-BEE5-F75C398AC7A5}" type="slidenum">
              <a:rPr lang="en-US" smtClean="0"/>
              <a:t>9</a:t>
            </a:fld>
            <a:endParaRPr lang="en-US"/>
          </a:p>
        </p:txBody>
      </p:sp>
    </p:spTree>
    <p:extLst>
      <p:ext uri="{BB962C8B-B14F-4D97-AF65-F5344CB8AC3E}">
        <p14:creationId xmlns:p14="http://schemas.microsoft.com/office/powerpoint/2010/main" val="19893321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Elston</a:t>
            </a:r>
          </a:p>
          <a:p>
            <a:endParaRPr lang="en-US" dirty="0"/>
          </a:p>
          <a:p>
            <a:r>
              <a:rPr lang="en-US" dirty="0"/>
              <a:t>This chart shows that 311 requests increased from 2017 to 2018 before declining in 2019. </a:t>
            </a:r>
          </a:p>
          <a:p>
            <a:r>
              <a:rPr lang="en-US" dirty="0"/>
              <a:t>Despite the drop, the overall demand remained relatively stable, indicating consistent demand for public services with at least 318 thousand requests each calendar year. </a:t>
            </a:r>
          </a:p>
        </p:txBody>
      </p:sp>
      <p:sp>
        <p:nvSpPr>
          <p:cNvPr id="4" name="Slide Number Placeholder 3"/>
          <p:cNvSpPr>
            <a:spLocks noGrp="1"/>
          </p:cNvSpPr>
          <p:nvPr>
            <p:ph type="sldNum" sz="quarter" idx="5"/>
          </p:nvPr>
        </p:nvSpPr>
        <p:spPr/>
        <p:txBody>
          <a:bodyPr/>
          <a:lstStyle/>
          <a:p>
            <a:fld id="{480CE8D1-802C-6D45-BEE5-F75C398AC7A5}" type="slidenum">
              <a:rPr lang="en-US" smtClean="0"/>
              <a:t>10</a:t>
            </a:fld>
            <a:endParaRPr lang="en-US"/>
          </a:p>
        </p:txBody>
      </p:sp>
    </p:spTree>
    <p:extLst>
      <p:ext uri="{BB962C8B-B14F-4D97-AF65-F5344CB8AC3E}">
        <p14:creationId xmlns:p14="http://schemas.microsoft.com/office/powerpoint/2010/main" val="3505880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Elston</a:t>
            </a:r>
          </a:p>
          <a:p>
            <a:endParaRPr lang="en-US" dirty="0"/>
          </a:p>
          <a:p>
            <a:r>
              <a:rPr lang="en-US" dirty="0"/>
              <a:t>We analyzed what issues prompted residents to call the 311 line most and found that by far the most common complaints were related to bulky trash and green waste cart issues. A common theme throughout this top chart is that most complaints are quality of life issues rather than crime related worries. </a:t>
            </a:r>
          </a:p>
        </p:txBody>
      </p:sp>
      <p:sp>
        <p:nvSpPr>
          <p:cNvPr id="4" name="Slide Number Placeholder 3"/>
          <p:cNvSpPr>
            <a:spLocks noGrp="1"/>
          </p:cNvSpPr>
          <p:nvPr>
            <p:ph type="sldNum" sz="quarter" idx="5"/>
          </p:nvPr>
        </p:nvSpPr>
        <p:spPr/>
        <p:txBody>
          <a:bodyPr/>
          <a:lstStyle/>
          <a:p>
            <a:fld id="{480CE8D1-802C-6D45-BEE5-F75C398AC7A5}" type="slidenum">
              <a:rPr lang="en-US" smtClean="0"/>
              <a:t>11</a:t>
            </a:fld>
            <a:endParaRPr lang="en-US"/>
          </a:p>
        </p:txBody>
      </p:sp>
    </p:spTree>
    <p:extLst>
      <p:ext uri="{BB962C8B-B14F-4D97-AF65-F5344CB8AC3E}">
        <p14:creationId xmlns:p14="http://schemas.microsoft.com/office/powerpoint/2010/main" val="36347789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Elston</a:t>
            </a:r>
          </a:p>
          <a:p>
            <a:endParaRPr lang="en-US"/>
          </a:p>
          <a:p>
            <a:r>
              <a:rPr lang="en-US"/>
              <a:t>Moving into the crime data, the </a:t>
            </a:r>
            <a:r>
              <a:rPr lang="en-US" err="1"/>
              <a:t>miami-dade</a:t>
            </a:r>
            <a:r>
              <a:rPr lang="en-US"/>
              <a:t> county experienced a clear downward trend in property crime over that same period.  The biggest drop happened between 2017 and 2018, that decline continued into 2019.  This drop happened at the same time 311 requests remained relatively stable. </a:t>
            </a:r>
          </a:p>
        </p:txBody>
      </p:sp>
      <p:sp>
        <p:nvSpPr>
          <p:cNvPr id="4" name="Slide Number Placeholder 3"/>
          <p:cNvSpPr>
            <a:spLocks noGrp="1"/>
          </p:cNvSpPr>
          <p:nvPr>
            <p:ph type="sldNum" sz="quarter" idx="5"/>
          </p:nvPr>
        </p:nvSpPr>
        <p:spPr/>
        <p:txBody>
          <a:bodyPr/>
          <a:lstStyle/>
          <a:p>
            <a:fld id="{480CE8D1-802C-6D45-BEE5-F75C398AC7A5}" type="slidenum">
              <a:rPr lang="en-US" smtClean="0"/>
              <a:t>12</a:t>
            </a:fld>
            <a:endParaRPr lang="en-US"/>
          </a:p>
        </p:txBody>
      </p:sp>
    </p:spTree>
    <p:extLst>
      <p:ext uri="{BB962C8B-B14F-4D97-AF65-F5344CB8AC3E}">
        <p14:creationId xmlns:p14="http://schemas.microsoft.com/office/powerpoint/2010/main" val="34828914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Elston</a:t>
            </a:r>
          </a:p>
          <a:p>
            <a:endParaRPr lang="en-US"/>
          </a:p>
          <a:p>
            <a:r>
              <a:rPr lang="en-US"/>
              <a:t>Now we compare these two variables on the same chart. This chart takes the two variables and maps their trends into the same scale. It’s clear there’s no visual evidence in this chart to suggest these two variables move together.  In 2018 when property crime declined by roughly 6 percent, 311 requests actually increased. These inconsistencies suggest that 311 requests and property crime have a weak or indirect relationship. </a:t>
            </a:r>
          </a:p>
        </p:txBody>
      </p:sp>
      <p:sp>
        <p:nvSpPr>
          <p:cNvPr id="4" name="Slide Number Placeholder 3"/>
          <p:cNvSpPr>
            <a:spLocks noGrp="1"/>
          </p:cNvSpPr>
          <p:nvPr>
            <p:ph type="sldNum" sz="quarter" idx="5"/>
          </p:nvPr>
        </p:nvSpPr>
        <p:spPr/>
        <p:txBody>
          <a:bodyPr/>
          <a:lstStyle/>
          <a:p>
            <a:fld id="{480CE8D1-802C-6D45-BEE5-F75C398AC7A5}" type="slidenum">
              <a:rPr lang="en-US" smtClean="0"/>
              <a:t>13</a:t>
            </a:fld>
            <a:endParaRPr lang="en-US"/>
          </a:p>
        </p:txBody>
      </p:sp>
    </p:spTree>
    <p:extLst>
      <p:ext uri="{BB962C8B-B14F-4D97-AF65-F5344CB8AC3E}">
        <p14:creationId xmlns:p14="http://schemas.microsoft.com/office/powerpoint/2010/main" val="1572581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Nicholas</a:t>
            </a:r>
          </a:p>
          <a:p>
            <a:endParaRPr lang="en-US" dirty="0">
              <a:latin typeface="Calibri"/>
              <a:ea typeface="Calibri"/>
              <a:cs typeface="Calibri"/>
            </a:endParaRPr>
          </a:p>
          <a:p>
            <a:r>
              <a:rPr lang="en-US" dirty="0">
                <a:latin typeface="Calibri"/>
                <a:ea typeface="Calibri"/>
                <a:cs typeface="Calibri"/>
              </a:rPr>
              <a:t>For the text mining portion of the project, we analyzed the issue type, which was how the complaints were filed by the citizens as well as the case owner </a:t>
            </a:r>
            <a:r>
              <a:rPr lang="en-US" dirty="0" err="1">
                <a:latin typeface="Calibri"/>
                <a:ea typeface="Calibri"/>
                <a:cs typeface="Calibri"/>
              </a:rPr>
              <a:t>descritpion</a:t>
            </a:r>
            <a:r>
              <a:rPr lang="en-US" dirty="0">
                <a:latin typeface="Calibri"/>
                <a:ea typeface="Calibri"/>
                <a:cs typeface="Calibri"/>
              </a:rPr>
              <a:t>, which is how the department </a:t>
            </a:r>
            <a:r>
              <a:rPr lang="en-US" dirty="0" err="1">
                <a:latin typeface="Calibri"/>
                <a:ea typeface="Calibri"/>
                <a:cs typeface="Calibri"/>
              </a:rPr>
              <a:t>categroized</a:t>
            </a:r>
            <a:r>
              <a:rPr lang="en-US" dirty="0">
                <a:latin typeface="Calibri"/>
                <a:ea typeface="Calibri"/>
                <a:cs typeface="Calibri"/>
              </a:rPr>
              <a:t> these complaints. The goal was to understand the most popular complaints expressed by citizens, and to analyze if these complaints related to crime, as well as how they changed over time. Finding the frequency of words used was done by tokenizing the text and removing common stop words to make sure only useful </a:t>
            </a:r>
            <a:r>
              <a:rPr lang="en-US" dirty="0" err="1">
                <a:latin typeface="Calibri"/>
                <a:ea typeface="Calibri"/>
                <a:cs typeface="Calibri"/>
              </a:rPr>
              <a:t>infromation</a:t>
            </a:r>
            <a:r>
              <a:rPr lang="en-US" dirty="0">
                <a:latin typeface="Calibri"/>
                <a:ea typeface="Calibri"/>
                <a:cs typeface="Calibri"/>
              </a:rPr>
              <a:t> was extracted out of the complaints. After the preparation of the data, we then created two bar graphs, one for each column, which show the highest frequency words that were used in the data. It is clear that many of the issues filed by citizens stem from utility issues as well as service disruptions. As for the department description words, most were related to waste management, as well as infrastructure like roads bridges and economy. </a:t>
            </a:r>
          </a:p>
        </p:txBody>
      </p:sp>
      <p:sp>
        <p:nvSpPr>
          <p:cNvPr id="4" name="Slide Number Placeholder 3"/>
          <p:cNvSpPr>
            <a:spLocks noGrp="1"/>
          </p:cNvSpPr>
          <p:nvPr>
            <p:ph type="sldNum" sz="quarter" idx="5"/>
          </p:nvPr>
        </p:nvSpPr>
        <p:spPr/>
        <p:txBody>
          <a:bodyPr/>
          <a:lstStyle/>
          <a:p>
            <a:fld id="{480CE8D1-802C-6D45-BEE5-F75C398AC7A5}" type="slidenum">
              <a:rPr lang="en-US" smtClean="0"/>
              <a:t>14</a:t>
            </a:fld>
            <a:endParaRPr lang="en-US"/>
          </a:p>
        </p:txBody>
      </p:sp>
    </p:spTree>
    <p:extLst>
      <p:ext uri="{BB962C8B-B14F-4D97-AF65-F5344CB8AC3E}">
        <p14:creationId xmlns:p14="http://schemas.microsoft.com/office/powerpoint/2010/main" val="16174502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Nicholas</a:t>
            </a:r>
          </a:p>
          <a:p>
            <a:endParaRPr lang="en-US" dirty="0">
              <a:latin typeface="Calibri"/>
              <a:ea typeface="Calibri"/>
              <a:cs typeface="Calibri"/>
            </a:endParaRPr>
          </a:p>
          <a:p>
            <a:r>
              <a:rPr lang="en-US" dirty="0">
                <a:latin typeface="Calibri"/>
                <a:ea typeface="Calibri"/>
                <a:cs typeface="Calibri"/>
              </a:rPr>
              <a:t>The graph on the right is a TF-IDF time based comparison which shows the importance of words used throughout the three years. It is apparent that in 2017 most issues came from power –related events and most likely power outages. We can see that in 2018 and 2019, the TF IDF then shows that building was the most important word used in the complains by the citizens. As for the chart on the bottom, this shows the frequency of words used by both the citizens and the department, and shows that the word waste was not only the most commonly used word in total, but the only word that had major use implications for both parties. </a:t>
            </a:r>
            <a:r>
              <a:rPr lang="en-US" dirty="0"/>
              <a:t>The broad pattern shows that most complaints, rather than related to crime, are related to </a:t>
            </a:r>
            <a:r>
              <a:rPr lang="en-US" dirty="0" err="1"/>
              <a:t>moreso</a:t>
            </a:r>
            <a:r>
              <a:rPr lang="en-US" dirty="0"/>
              <a:t> linked to infrastructure, utility, and service issues.</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480CE8D1-802C-6D45-BEE5-F75C398AC7A5}" type="slidenum">
              <a:rPr lang="en-US" smtClean="0"/>
              <a:t>15</a:t>
            </a:fld>
            <a:endParaRPr lang="en-US"/>
          </a:p>
        </p:txBody>
      </p:sp>
    </p:spTree>
    <p:extLst>
      <p:ext uri="{BB962C8B-B14F-4D97-AF65-F5344CB8AC3E}">
        <p14:creationId xmlns:p14="http://schemas.microsoft.com/office/powerpoint/2010/main" val="3948656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E8785-EDDD-4148-DCE3-DC633D3B70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09D4F-188A-9F13-DE7D-AF36B57A21F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2B18FC-3863-FD8F-8F9D-E3BB2DEAE199}"/>
              </a:ext>
            </a:extLst>
          </p:cNvPr>
          <p:cNvSpPr>
            <a:spLocks noGrp="1"/>
          </p:cNvSpPr>
          <p:nvPr>
            <p:ph type="body" idx="1"/>
          </p:nvPr>
        </p:nvSpPr>
        <p:spPr/>
        <p:txBody>
          <a:bodyPr/>
          <a:lstStyle/>
          <a:p>
            <a:r>
              <a:rPr lang="en-US"/>
              <a:t>Zara</a:t>
            </a:r>
          </a:p>
          <a:p>
            <a:endParaRPr lang="en-US"/>
          </a:p>
          <a:p>
            <a:r>
              <a:rPr lang="en-US"/>
              <a:t>Based on our findings, there are a few key practical implications.</a:t>
            </a:r>
          </a:p>
          <a:p>
            <a:r>
              <a:rPr lang="en-US" dirty="0"/>
              <a:t>First, 311 data is useful for identifying real community needs, since it reflects what residents are actively reporting.</a:t>
            </a:r>
          </a:p>
          <a:p>
            <a:r>
              <a:rPr lang="en-US" dirty="0"/>
              <a:t>Second, cities can use this data to improve service planning and allocate resources more effectively.</a:t>
            </a:r>
          </a:p>
          <a:p>
            <a:r>
              <a:rPr lang="en-US" dirty="0"/>
              <a:t>It can also help identify problem areas early, allowing for quicker response.</a:t>
            </a:r>
          </a:p>
          <a:p>
            <a:r>
              <a:rPr lang="en-US"/>
              <a:t>However, 311 data should not be used as a direct measure of crime trends, since the two do not closely align.</a:t>
            </a:r>
          </a:p>
          <a:p>
            <a:r>
              <a:rPr lang="en-US"/>
              <a:t>Overall, combining 311 data with crime data gives a more complete picture of community conditions.</a:t>
            </a:r>
          </a:p>
          <a:p>
            <a:endParaRPr lang="en-US" dirty="0"/>
          </a:p>
        </p:txBody>
      </p:sp>
      <p:sp>
        <p:nvSpPr>
          <p:cNvPr id="4" name="Slide Number Placeholder 3">
            <a:extLst>
              <a:ext uri="{FF2B5EF4-FFF2-40B4-BE49-F238E27FC236}">
                <a16:creationId xmlns:a16="http://schemas.microsoft.com/office/drawing/2014/main" id="{9172DEE5-6A68-8586-C20F-763613EF87C6}"/>
              </a:ext>
            </a:extLst>
          </p:cNvPr>
          <p:cNvSpPr>
            <a:spLocks noGrp="1"/>
          </p:cNvSpPr>
          <p:nvPr>
            <p:ph type="sldNum" sz="quarter" idx="5"/>
          </p:nvPr>
        </p:nvSpPr>
        <p:spPr/>
        <p:txBody>
          <a:bodyPr/>
          <a:lstStyle/>
          <a:p>
            <a:fld id="{480CE8D1-802C-6D45-BEE5-F75C398AC7A5}" type="slidenum">
              <a:rPr lang="en-US" smtClean="0"/>
              <a:t>16</a:t>
            </a:fld>
            <a:endParaRPr lang="en-US"/>
          </a:p>
        </p:txBody>
      </p:sp>
    </p:spTree>
    <p:extLst>
      <p:ext uri="{BB962C8B-B14F-4D97-AF65-F5344CB8AC3E}">
        <p14:creationId xmlns:p14="http://schemas.microsoft.com/office/powerpoint/2010/main" val="4133834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AAB95-BD60-94B6-4973-AF9457306F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AF7871-B619-2EDF-E933-1BE485C482D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AEAF3B0-A261-7882-12D7-E47EB53D9FBA}"/>
              </a:ext>
            </a:extLst>
          </p:cNvPr>
          <p:cNvSpPr>
            <a:spLocks noGrp="1"/>
          </p:cNvSpPr>
          <p:nvPr>
            <p:ph type="body" idx="1"/>
          </p:nvPr>
        </p:nvSpPr>
        <p:spPr/>
        <p:txBody>
          <a:bodyPr/>
          <a:lstStyle/>
          <a:p>
            <a:r>
              <a:rPr lang="en-US" dirty="0"/>
              <a:t>Johnny</a:t>
            </a:r>
          </a:p>
          <a:p>
            <a:endParaRPr lang="en-US" dirty="0"/>
          </a:p>
          <a:p>
            <a:r>
              <a:rPr lang="en-US" dirty="0"/>
              <a:t>After comparing the two datasets side by side, we weren't able to find a strong relationship between 311 service requests and property crime trends. While crime decreased steadily from 2017 to 2019, 311 request volumes stayed relatively flat. This tells us that citizen complaints don't necessarily reflect what's happening with actual crime, people are reporting service issues regardless of whether crime is going up or down.</a:t>
            </a:r>
          </a:p>
        </p:txBody>
      </p:sp>
      <p:sp>
        <p:nvSpPr>
          <p:cNvPr id="4" name="Slide Number Placeholder 3">
            <a:extLst>
              <a:ext uri="{FF2B5EF4-FFF2-40B4-BE49-F238E27FC236}">
                <a16:creationId xmlns:a16="http://schemas.microsoft.com/office/drawing/2014/main" id="{F2BB5E83-398F-6D22-E67A-510943049120}"/>
              </a:ext>
            </a:extLst>
          </p:cNvPr>
          <p:cNvSpPr>
            <a:spLocks noGrp="1"/>
          </p:cNvSpPr>
          <p:nvPr>
            <p:ph type="sldNum" sz="quarter" idx="5"/>
          </p:nvPr>
        </p:nvSpPr>
        <p:spPr/>
        <p:txBody>
          <a:bodyPr/>
          <a:lstStyle/>
          <a:p>
            <a:fld id="{480CE8D1-802C-6D45-BEE5-F75C398AC7A5}" type="slidenum">
              <a:rPr lang="en-US" smtClean="0"/>
              <a:t>17</a:t>
            </a:fld>
            <a:endParaRPr lang="en-US"/>
          </a:p>
        </p:txBody>
      </p:sp>
    </p:spTree>
    <p:extLst>
      <p:ext uri="{BB962C8B-B14F-4D97-AF65-F5344CB8AC3E}">
        <p14:creationId xmlns:p14="http://schemas.microsoft.com/office/powerpoint/2010/main" val="3420369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Wesley</a:t>
            </a:r>
          </a:p>
          <a:p>
            <a:endParaRPr lang="en-US">
              <a:latin typeface="Calibri"/>
              <a:ea typeface="Calibri"/>
              <a:cs typeface="Calibri"/>
            </a:endParaRPr>
          </a:p>
          <a:p>
            <a:r>
              <a:rPr lang="en-US">
                <a:latin typeface="Calibri"/>
                <a:ea typeface="Calibri"/>
                <a:cs typeface="Calibri"/>
              </a:rPr>
              <a:t>So just a quick overview of how we divided up the work and what </a:t>
            </a:r>
            <a:r>
              <a:rPr lang="en-US" err="1">
                <a:latin typeface="Calibri"/>
                <a:ea typeface="Calibri"/>
                <a:cs typeface="Calibri"/>
              </a:rPr>
              <a:t>everyones</a:t>
            </a:r>
            <a:r>
              <a:rPr lang="en-US">
                <a:latin typeface="Calibri"/>
                <a:ea typeface="Calibri"/>
                <a:cs typeface="Calibri"/>
              </a:rPr>
              <a:t> roles were. Zara was our project manager, she managed the whole project, kept everything organized, always reached out whenever we needed help and put together the final RMD file. Elston was our visualizations and reporting lead, he built all the visuals. Johnny was 1 of our data engineers. He handled the 311 data, loaded all three years, cleaned it up, and aggregated the request tools. I was the other data engineer. I worked on the crime data side, cleaned the FDLE files, filtering to Miami-Dade, and doing the final merge. And lastly, Nicholas was our text mining analyst. He ran the text mining on the </a:t>
            </a:r>
            <a:r>
              <a:rPr lang="en-US" err="1">
                <a:latin typeface="Calibri"/>
                <a:ea typeface="Calibri"/>
                <a:cs typeface="Calibri"/>
              </a:rPr>
              <a:t>compl</a:t>
            </a:r>
            <a:r>
              <a:rPr lang="en-US">
                <a:latin typeface="Calibri"/>
                <a:ea typeface="Calibri"/>
                <a:cs typeface="Calibri"/>
              </a:rPr>
              <a:t>aint descriptions using word frequency and TF-IDF. </a:t>
            </a:r>
          </a:p>
        </p:txBody>
      </p:sp>
      <p:sp>
        <p:nvSpPr>
          <p:cNvPr id="4" name="Slide Number Placeholder 3"/>
          <p:cNvSpPr>
            <a:spLocks noGrp="1"/>
          </p:cNvSpPr>
          <p:nvPr>
            <p:ph type="sldNum" sz="quarter" idx="5"/>
          </p:nvPr>
        </p:nvSpPr>
        <p:spPr/>
        <p:txBody>
          <a:bodyPr/>
          <a:lstStyle/>
          <a:p>
            <a:fld id="{480CE8D1-802C-6D45-BEE5-F75C398AC7A5}" type="slidenum">
              <a:rPr lang="en-US" smtClean="0"/>
              <a:t>18</a:t>
            </a:fld>
            <a:endParaRPr lang="en-US"/>
          </a:p>
        </p:txBody>
      </p:sp>
    </p:spTree>
    <p:extLst>
      <p:ext uri="{BB962C8B-B14F-4D97-AF65-F5344CB8AC3E}">
        <p14:creationId xmlns:p14="http://schemas.microsoft.com/office/powerpoint/2010/main" val="5907618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Zara</a:t>
            </a:r>
          </a:p>
        </p:txBody>
      </p:sp>
      <p:sp>
        <p:nvSpPr>
          <p:cNvPr id="4" name="Slide Number Placeholder 3"/>
          <p:cNvSpPr>
            <a:spLocks noGrp="1"/>
          </p:cNvSpPr>
          <p:nvPr>
            <p:ph type="sldNum" sz="quarter" idx="5"/>
          </p:nvPr>
        </p:nvSpPr>
        <p:spPr/>
        <p:txBody>
          <a:bodyPr/>
          <a:lstStyle/>
          <a:p>
            <a:fld id="{480CE8D1-802C-6D45-BEE5-F75C398AC7A5}" type="slidenum">
              <a:rPr lang="en-US" smtClean="0"/>
              <a:t>19</a:t>
            </a:fld>
            <a:endParaRPr lang="en-US"/>
          </a:p>
        </p:txBody>
      </p:sp>
    </p:spTree>
    <p:extLst>
      <p:ext uri="{BB962C8B-B14F-4D97-AF65-F5344CB8AC3E}">
        <p14:creationId xmlns:p14="http://schemas.microsoft.com/office/powerpoint/2010/main" val="2842503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slideLayout" Target="../slideLayouts/slideLayout7.xml"/><Relationship Id="rId7" Type="http://schemas.openxmlformats.org/officeDocument/2006/relationships/image" Target="../media/image3.sv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svg"/><Relationship Id="rId5" Type="http://schemas.openxmlformats.org/officeDocument/2006/relationships/image" Target="../media/image1.jpeg"/><Relationship Id="rId10" Type="http://schemas.openxmlformats.org/officeDocument/2006/relationships/image" Target="../media/image6.png"/><Relationship Id="rId4" Type="http://schemas.openxmlformats.org/officeDocument/2006/relationships/notesSlide" Target="../notesSlides/notesSlide1.xml"/><Relationship Id="rId9"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4.sv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13.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14.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5.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4.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1.jpeg"/><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4.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1.jpeg"/><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8.jpeg"/></Relationships>
</file>

<file path=ppt/slides/_rels/slide1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7.jpeg"/><Relationship Id="rId7" Type="http://schemas.openxmlformats.org/officeDocument/2006/relationships/image" Target="../media/image2.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25.jpeg"/><Relationship Id="rId4" Type="http://schemas.openxmlformats.org/officeDocument/2006/relationships/image" Target="../media/image3.svg"/><Relationship Id="rId9" Type="http://schemas.openxmlformats.org/officeDocument/2006/relationships/image" Target="../media/image5.sv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7.sv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l="-5438" r="-1788" b="-27005"/>
            </a:stretch>
          </a:blipFill>
        </p:spPr>
        <p:txBody>
          <a:bodyPr/>
          <a:lstStyle/>
          <a:p>
            <a:endParaRPr lang="en-US"/>
          </a:p>
        </p:txBody>
      </p:sp>
      <p:sp>
        <p:nvSpPr>
          <p:cNvPr id="3" name="Freeform 3"/>
          <p:cNvSpPr/>
          <p:nvPr/>
        </p:nvSpPr>
        <p:spPr>
          <a:xfrm rot="1301878">
            <a:off x="-8306625" y="8183465"/>
            <a:ext cx="19724024" cy="824823"/>
          </a:xfrm>
          <a:custGeom>
            <a:avLst/>
            <a:gdLst/>
            <a:ahLst/>
            <a:cxnLst/>
            <a:rect l="l" t="t" r="r" b="b"/>
            <a:pathLst>
              <a:path w="19724024" h="824823">
                <a:moveTo>
                  <a:pt x="0" y="0"/>
                </a:moveTo>
                <a:lnTo>
                  <a:pt x="19724025" y="0"/>
                </a:lnTo>
                <a:lnTo>
                  <a:pt x="19724025" y="824823"/>
                </a:lnTo>
                <a:lnTo>
                  <a:pt x="0" y="82482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TextBox 4"/>
          <p:cNvSpPr txBox="1"/>
          <p:nvPr/>
        </p:nvSpPr>
        <p:spPr>
          <a:xfrm>
            <a:off x="5892032" y="1140040"/>
            <a:ext cx="11169013" cy="2240806"/>
          </a:xfrm>
          <a:prstGeom prst="rect">
            <a:avLst/>
          </a:prstGeom>
        </p:spPr>
        <p:txBody>
          <a:bodyPr wrap="square" lIns="0" tIns="0" rIns="0" bIns="0" rtlCol="0" anchor="t">
            <a:spAutoFit/>
          </a:bodyPr>
          <a:lstStyle/>
          <a:p>
            <a:pPr algn="l">
              <a:lnSpc>
                <a:spcPts val="19231"/>
              </a:lnSpc>
            </a:pPr>
            <a:r>
              <a:rPr lang="en-US" sz="11700" dirty="0">
                <a:solidFill>
                  <a:srgbClr val="FFFFFF"/>
                </a:solidFill>
                <a:latin typeface="Handelson Six"/>
                <a:ea typeface="Handelson Six"/>
                <a:cs typeface="Handelson Six"/>
                <a:sym typeface="Handelson Six"/>
              </a:rPr>
              <a:t>Miami-Dade:</a:t>
            </a:r>
          </a:p>
        </p:txBody>
      </p:sp>
      <p:sp>
        <p:nvSpPr>
          <p:cNvPr id="5" name="TextBox 5"/>
          <p:cNvSpPr txBox="1"/>
          <p:nvPr/>
        </p:nvSpPr>
        <p:spPr>
          <a:xfrm>
            <a:off x="5892032" y="3074893"/>
            <a:ext cx="11937882" cy="2708434"/>
          </a:xfrm>
          <a:prstGeom prst="rect">
            <a:avLst/>
          </a:prstGeom>
        </p:spPr>
        <p:txBody>
          <a:bodyPr wrap="square" lIns="0" tIns="0" rIns="0" bIns="0" rtlCol="0" anchor="t">
            <a:spAutoFit/>
          </a:bodyPr>
          <a:lstStyle/>
          <a:p>
            <a:pPr algn="l"/>
            <a:r>
              <a:rPr lang="en-US" sz="8800" dirty="0">
                <a:solidFill>
                  <a:srgbClr val="FFFFFF"/>
                </a:solidFill>
                <a:latin typeface="Handelson Six"/>
                <a:ea typeface="Handelson Six"/>
                <a:cs typeface="Handelson Six"/>
                <a:sym typeface="Handelson Six"/>
              </a:rPr>
              <a:t>311 Requests &amp; Crime Analysis</a:t>
            </a:r>
          </a:p>
        </p:txBody>
      </p:sp>
      <p:sp>
        <p:nvSpPr>
          <p:cNvPr id="6" name="Freeform 6"/>
          <p:cNvSpPr/>
          <p:nvPr/>
        </p:nvSpPr>
        <p:spPr>
          <a:xfrm rot="873426">
            <a:off x="2274826" y="549866"/>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rot="1489445">
            <a:off x="10133012" y="1827526"/>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p:cNvSpPr/>
          <p:nvPr/>
        </p:nvSpPr>
        <p:spPr>
          <a:xfrm rot="1941580">
            <a:off x="-9346852" y="8705554"/>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TextBox 9"/>
          <p:cNvSpPr txBox="1"/>
          <p:nvPr/>
        </p:nvSpPr>
        <p:spPr>
          <a:xfrm>
            <a:off x="7238505" y="8408377"/>
            <a:ext cx="8192052" cy="578168"/>
          </a:xfrm>
          <a:prstGeom prst="rect">
            <a:avLst/>
          </a:prstGeom>
        </p:spPr>
        <p:txBody>
          <a:bodyPr lIns="0" tIns="0" rIns="0" bIns="0" rtlCol="0" anchor="t">
            <a:spAutoFit/>
          </a:bodyPr>
          <a:lstStyle/>
          <a:p>
            <a:pPr algn="r">
              <a:lnSpc>
                <a:spcPts val="4619"/>
              </a:lnSpc>
              <a:spcBef>
                <a:spcPct val="0"/>
              </a:spcBef>
            </a:pPr>
            <a:r>
              <a:rPr lang="en-US" sz="3299">
                <a:solidFill>
                  <a:srgbClr val="000000"/>
                </a:solidFill>
                <a:latin typeface="Handelson Six"/>
                <a:ea typeface="Handelson Six"/>
                <a:cs typeface="Handelson Six"/>
                <a:sym typeface="Handelson Six"/>
              </a:rPr>
              <a:t>Unsolved Mysteries</a:t>
            </a:r>
          </a:p>
        </p:txBody>
      </p:sp>
      <p:sp>
        <p:nvSpPr>
          <p:cNvPr id="10" name="TextBox 10"/>
          <p:cNvSpPr txBox="1"/>
          <p:nvPr/>
        </p:nvSpPr>
        <p:spPr>
          <a:xfrm>
            <a:off x="5950716" y="6894604"/>
            <a:ext cx="12023402" cy="3080843"/>
          </a:xfrm>
          <a:prstGeom prst="rect">
            <a:avLst/>
          </a:prstGeom>
        </p:spPr>
        <p:txBody>
          <a:bodyPr wrap="square" lIns="0" tIns="0" rIns="0" bIns="0" numCol="1" rtlCol="0" anchor="t">
            <a:spAutoFit/>
          </a:bodyPr>
          <a:lstStyle/>
          <a:p>
            <a:pPr algn="just">
              <a:lnSpc>
                <a:spcPct val="150000"/>
              </a:lnSpc>
            </a:pPr>
            <a:r>
              <a:rPr lang="en-US" sz="2800" b="1" spc="71" dirty="0">
                <a:solidFill>
                  <a:srgbClr val="FFFFFF"/>
                </a:solidFill>
                <a:latin typeface="Bitter Bold"/>
                <a:ea typeface="Bitter Bold"/>
                <a:cs typeface="Bitter Bold"/>
                <a:sym typeface="Bitter Bold"/>
              </a:rPr>
              <a:t>LIS 4761 – Data/Text Mining</a:t>
            </a:r>
          </a:p>
          <a:p>
            <a:pPr algn="just">
              <a:lnSpc>
                <a:spcPct val="150000"/>
              </a:lnSpc>
            </a:pPr>
            <a:r>
              <a:rPr lang="en-US" sz="2800" b="1" spc="71" dirty="0">
                <a:solidFill>
                  <a:srgbClr val="FFFFFF"/>
                </a:solidFill>
                <a:latin typeface="Bitter Bold"/>
                <a:ea typeface="Bitter Bold"/>
                <a:cs typeface="Bitter Bold"/>
                <a:sym typeface="Bitter Bold"/>
              </a:rPr>
              <a:t>April 26, 2026</a:t>
            </a:r>
          </a:p>
          <a:p>
            <a:pPr algn="just">
              <a:lnSpc>
                <a:spcPct val="150000"/>
              </a:lnSpc>
            </a:pPr>
            <a:r>
              <a:rPr lang="en-US" sz="2800" b="1" spc="71" dirty="0">
                <a:solidFill>
                  <a:srgbClr val="FFFFFF"/>
                </a:solidFill>
                <a:latin typeface="Bitter Bold"/>
                <a:ea typeface="Bitter Bold"/>
                <a:cs typeface="Bitter Bold"/>
                <a:sym typeface="Bitter Bold"/>
              </a:rPr>
              <a:t>By: Zara Gonzalez, Johnny Nguyen, Elston Miller, Nicholas Alex, &amp; Wesley Huang</a:t>
            </a:r>
          </a:p>
          <a:p>
            <a:pPr algn="just">
              <a:lnSpc>
                <a:spcPts val="4197"/>
              </a:lnSpc>
            </a:pPr>
            <a:endParaRPr lang="en-US" sz="2998" b="1" spc="71" dirty="0">
              <a:solidFill>
                <a:srgbClr val="FFFFFF"/>
              </a:solidFill>
              <a:latin typeface="Bitter Bold"/>
              <a:ea typeface="Bitter Bold"/>
              <a:cs typeface="Bitter Bold"/>
              <a:sym typeface="Bitter Bold"/>
            </a:endParaRPr>
          </a:p>
        </p:txBody>
      </p:sp>
      <p:sp>
        <p:nvSpPr>
          <p:cNvPr id="11" name="Freeform 11"/>
          <p:cNvSpPr/>
          <p:nvPr/>
        </p:nvSpPr>
        <p:spPr>
          <a:xfrm rot="98327" flipH="1">
            <a:off x="1611406" y="1110669"/>
            <a:ext cx="4056771" cy="3975635"/>
          </a:xfrm>
          <a:custGeom>
            <a:avLst/>
            <a:gdLst/>
            <a:ahLst/>
            <a:cxnLst/>
            <a:rect l="l" t="t" r="r" b="b"/>
            <a:pathLst>
              <a:path w="4056771" h="3975635">
                <a:moveTo>
                  <a:pt x="4056770" y="0"/>
                </a:moveTo>
                <a:lnTo>
                  <a:pt x="0" y="0"/>
                </a:lnTo>
                <a:lnTo>
                  <a:pt x="0" y="3975635"/>
                </a:lnTo>
                <a:lnTo>
                  <a:pt x="4056770" y="3975635"/>
                </a:lnTo>
                <a:lnTo>
                  <a:pt x="405677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2" name="Freeform 12"/>
          <p:cNvSpPr/>
          <p:nvPr/>
        </p:nvSpPr>
        <p:spPr>
          <a:xfrm rot="9487954" flipH="1">
            <a:off x="1460090" y="3052961"/>
            <a:ext cx="4056771" cy="3975635"/>
          </a:xfrm>
          <a:custGeom>
            <a:avLst/>
            <a:gdLst/>
            <a:ahLst/>
            <a:cxnLst/>
            <a:rect l="l" t="t" r="r" b="b"/>
            <a:pathLst>
              <a:path w="4056771" h="3975635">
                <a:moveTo>
                  <a:pt x="4056770" y="0"/>
                </a:moveTo>
                <a:lnTo>
                  <a:pt x="0" y="0"/>
                </a:lnTo>
                <a:lnTo>
                  <a:pt x="0" y="3975635"/>
                </a:lnTo>
                <a:lnTo>
                  <a:pt x="4056770" y="3975635"/>
                </a:lnTo>
                <a:lnTo>
                  <a:pt x="405677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3" name="Freeform 13"/>
          <p:cNvSpPr/>
          <p:nvPr/>
        </p:nvSpPr>
        <p:spPr>
          <a:xfrm rot="2046468">
            <a:off x="5398477" y="870193"/>
            <a:ext cx="390162" cy="636134"/>
          </a:xfrm>
          <a:custGeom>
            <a:avLst/>
            <a:gdLst/>
            <a:ahLst/>
            <a:cxnLst/>
            <a:rect l="l" t="t" r="r" b="b"/>
            <a:pathLst>
              <a:path w="390162" h="636134">
                <a:moveTo>
                  <a:pt x="0" y="0"/>
                </a:moveTo>
                <a:lnTo>
                  <a:pt x="390163" y="0"/>
                </a:lnTo>
                <a:lnTo>
                  <a:pt x="390163" y="636134"/>
                </a:lnTo>
                <a:lnTo>
                  <a:pt x="0" y="63613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4" name="Freeform 14"/>
          <p:cNvSpPr/>
          <p:nvPr/>
        </p:nvSpPr>
        <p:spPr>
          <a:xfrm rot="-2351283">
            <a:off x="1022751" y="3614773"/>
            <a:ext cx="390162" cy="636134"/>
          </a:xfrm>
          <a:custGeom>
            <a:avLst/>
            <a:gdLst/>
            <a:ahLst/>
            <a:cxnLst/>
            <a:rect l="l" t="t" r="r" b="b"/>
            <a:pathLst>
              <a:path w="390162" h="636134">
                <a:moveTo>
                  <a:pt x="0" y="0"/>
                </a:moveTo>
                <a:lnTo>
                  <a:pt x="390162" y="0"/>
                </a:lnTo>
                <a:lnTo>
                  <a:pt x="390162" y="636134"/>
                </a:lnTo>
                <a:lnTo>
                  <a:pt x="0" y="63613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5" name="Freeform 15"/>
          <p:cNvSpPr/>
          <p:nvPr/>
        </p:nvSpPr>
        <p:spPr>
          <a:xfrm rot="3742967">
            <a:off x="1532376" y="1660448"/>
            <a:ext cx="3912197" cy="4597975"/>
          </a:xfrm>
          <a:custGeom>
            <a:avLst/>
            <a:gdLst/>
            <a:ahLst/>
            <a:cxnLst/>
            <a:rect l="l" t="t" r="r" b="b"/>
            <a:pathLst>
              <a:path w="3912197" h="4597975">
                <a:moveTo>
                  <a:pt x="0" y="0"/>
                </a:moveTo>
                <a:lnTo>
                  <a:pt x="3912198" y="0"/>
                </a:lnTo>
                <a:lnTo>
                  <a:pt x="3912198" y="4597975"/>
                </a:lnTo>
                <a:lnTo>
                  <a:pt x="0" y="4597975"/>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7" name="TextBox 5">
            <a:extLst>
              <a:ext uri="{FF2B5EF4-FFF2-40B4-BE49-F238E27FC236}">
                <a16:creationId xmlns:a16="http://schemas.microsoft.com/office/drawing/2014/main" id="{072174F2-5A21-BE0E-0D0D-EF1AFA32444D}"/>
              </a:ext>
            </a:extLst>
          </p:cNvPr>
          <p:cNvSpPr txBox="1"/>
          <p:nvPr/>
        </p:nvSpPr>
        <p:spPr>
          <a:xfrm>
            <a:off x="5884287" y="5771012"/>
            <a:ext cx="8982795" cy="738664"/>
          </a:xfrm>
          <a:prstGeom prst="rect">
            <a:avLst/>
          </a:prstGeom>
        </p:spPr>
        <p:txBody>
          <a:bodyPr wrap="square" lIns="0" tIns="0" rIns="0" bIns="0" rtlCol="0" anchor="t">
            <a:spAutoFit/>
          </a:bodyPr>
          <a:lstStyle/>
          <a:p>
            <a:pPr algn="l"/>
            <a:r>
              <a:rPr lang="en-US" sz="4800" dirty="0">
                <a:solidFill>
                  <a:srgbClr val="FFFFFF"/>
                </a:solidFill>
                <a:latin typeface="Handelson Six"/>
                <a:ea typeface="Handelson Six"/>
                <a:cs typeface="Handelson Six"/>
                <a:sym typeface="Handelson Six"/>
              </a:rPr>
              <a:t>2017–2019 Analysis</a:t>
            </a:r>
          </a:p>
        </p:txBody>
      </p:sp>
      <p:pic>
        <p:nvPicPr>
          <p:cNvPr id="16" name="recording.mp3">
            <a:hlinkClick r:id="" action="ppaction://media"/>
            <a:extLst>
              <a:ext uri="{FF2B5EF4-FFF2-40B4-BE49-F238E27FC236}">
                <a16:creationId xmlns:a16="http://schemas.microsoft.com/office/drawing/2014/main" id="{9EC22E86-E19A-586A-921C-44F9BC71D7E8}"/>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5994599" y="828487"/>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6264"/>
    </mc:Choice>
    <mc:Fallback>
      <p:transition spd="slow" advTm="26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repeatCount="indefinite" fill="hold" display="0">
                  <p:stCondLst>
                    <p:cond delay="indefinite"/>
                  </p:stCondLst>
                  <p:endCondLst>
                    <p:cond evt="onStopAudio" delay="0">
                      <p:tgtEl>
                        <p:sldTgt/>
                      </p:tgtEl>
                    </p:cond>
                  </p:endCondLst>
                </p:cTn>
                <p:tgtEl>
                  <p:spTgt spid="16"/>
                </p:tgtEl>
              </p:cMediaNode>
            </p:audio>
          </p:childTnLst>
        </p:cTn>
      </p:par>
    </p:tnLst>
  </p:timing>
  <p:extLst>
    <p:ext uri="{E180D4A7-C9FB-4DFB-919C-405C955672EB}">
      <p14:showEvtLst xmlns:p14="http://schemas.microsoft.com/office/powerpoint/2010/main">
        <p14:playEvt time="3" objId="16"/>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sp>
        <p:nvSpPr>
          <p:cNvPr id="4" name="Freeform 4"/>
          <p:cNvSpPr/>
          <p:nvPr/>
        </p:nvSpPr>
        <p:spPr>
          <a:xfrm rot="-697464" flipH="1">
            <a:off x="14171011" y="710215"/>
            <a:ext cx="3831533" cy="3589702"/>
          </a:xfrm>
          <a:custGeom>
            <a:avLst/>
            <a:gdLst/>
            <a:ahLst/>
            <a:cxnLst/>
            <a:rect l="l" t="t" r="r" b="b"/>
            <a:pathLst>
              <a:path w="4198776" h="4114800">
                <a:moveTo>
                  <a:pt x="4198775" y="0"/>
                </a:moveTo>
                <a:lnTo>
                  <a:pt x="0" y="0"/>
                </a:lnTo>
                <a:lnTo>
                  <a:pt x="0" y="4114800"/>
                </a:lnTo>
                <a:lnTo>
                  <a:pt x="4198775" y="4114800"/>
                </a:lnTo>
                <a:lnTo>
                  <a:pt x="419877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2856948">
            <a:off x="17235857" y="108017"/>
            <a:ext cx="352288" cy="600815"/>
          </a:xfrm>
          <a:custGeom>
            <a:avLst/>
            <a:gdLst/>
            <a:ahLst/>
            <a:cxnLst/>
            <a:rect l="l" t="t" r="r" b="b"/>
            <a:pathLst>
              <a:path w="403820" h="658402">
                <a:moveTo>
                  <a:pt x="0" y="0"/>
                </a:moveTo>
                <a:lnTo>
                  <a:pt x="403820" y="0"/>
                </a:lnTo>
                <a:lnTo>
                  <a:pt x="403820" y="658401"/>
                </a:lnTo>
                <a:lnTo>
                  <a:pt x="0" y="65840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1163889">
            <a:off x="15174900" y="1659428"/>
            <a:ext cx="3194867" cy="3589703"/>
          </a:xfrm>
          <a:custGeom>
            <a:avLst/>
            <a:gdLst/>
            <a:ahLst/>
            <a:cxnLst/>
            <a:rect l="l" t="t" r="r" b="b"/>
            <a:pathLst>
              <a:path w="3501087" h="4114800">
                <a:moveTo>
                  <a:pt x="0" y="0"/>
                </a:moveTo>
                <a:lnTo>
                  <a:pt x="3501087" y="0"/>
                </a:lnTo>
                <a:lnTo>
                  <a:pt x="3501087"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TextBox 8"/>
          <p:cNvSpPr txBox="1"/>
          <p:nvPr/>
        </p:nvSpPr>
        <p:spPr>
          <a:xfrm>
            <a:off x="1609484" y="1389376"/>
            <a:ext cx="10629682" cy="2231380"/>
          </a:xfrm>
          <a:prstGeom prst="rect">
            <a:avLst/>
          </a:prstGeom>
        </p:spPr>
        <p:txBody>
          <a:bodyPr lIns="0" tIns="0" rIns="0" bIns="0" rtlCol="0" anchor="t">
            <a:spAutoFit/>
          </a:bodyPr>
          <a:lstStyle/>
          <a:p>
            <a:pPr algn="l">
              <a:lnSpc>
                <a:spcPts val="17384"/>
              </a:lnSpc>
            </a:pPr>
            <a:r>
              <a:rPr lang="en-US" sz="17700" dirty="0">
                <a:solidFill>
                  <a:srgbClr val="000000"/>
                </a:solidFill>
                <a:latin typeface="Handelson Six"/>
                <a:ea typeface="Handelson Six"/>
                <a:cs typeface="Handelson Six"/>
                <a:sym typeface="Handelson Six"/>
              </a:rPr>
              <a:t>Contents</a:t>
            </a:r>
          </a:p>
        </p:txBody>
      </p:sp>
      <p:sp>
        <p:nvSpPr>
          <p:cNvPr id="9" name="TextBox 9"/>
          <p:cNvSpPr txBox="1"/>
          <p:nvPr/>
        </p:nvSpPr>
        <p:spPr>
          <a:xfrm>
            <a:off x="365747" y="4586845"/>
            <a:ext cx="17046254" cy="8938794"/>
          </a:xfrm>
          <a:prstGeom prst="rect">
            <a:avLst/>
          </a:prstGeom>
        </p:spPr>
        <p:txBody>
          <a:bodyPr wrap="square" lIns="0" tIns="0" rIns="0" bIns="0" numCol="2" rtlCol="0" anchor="t">
            <a:spAutoFit/>
          </a:bodyPr>
          <a:lstStyle/>
          <a:p>
            <a:pPr algn="l">
              <a:lnSpc>
                <a:spcPts val="5037"/>
              </a:lnSpc>
            </a:pPr>
            <a:r>
              <a:rPr lang="en-US" sz="3598" spc="86" dirty="0">
                <a:solidFill>
                  <a:srgbClr val="000000"/>
                </a:solidFill>
                <a:latin typeface="Bitter"/>
                <a:ea typeface="Bitter"/>
                <a:cs typeface="Bitter"/>
                <a:sym typeface="Bitter"/>
              </a:rPr>
              <a:t>01. Introduction &amp; Project Goal</a:t>
            </a:r>
          </a:p>
          <a:p>
            <a:pPr algn="l">
              <a:lnSpc>
                <a:spcPts val="5037"/>
              </a:lnSpc>
            </a:pPr>
            <a:r>
              <a:rPr lang="en-US" sz="3598" spc="86" dirty="0">
                <a:solidFill>
                  <a:srgbClr val="000000"/>
                </a:solidFill>
                <a:latin typeface="Bitter"/>
                <a:ea typeface="Bitter"/>
                <a:cs typeface="Bitter"/>
                <a:sym typeface="Bitter"/>
              </a:rPr>
              <a:t>02. Key Questions</a:t>
            </a:r>
          </a:p>
          <a:p>
            <a:pPr algn="l">
              <a:lnSpc>
                <a:spcPts val="5037"/>
              </a:lnSpc>
            </a:pPr>
            <a:r>
              <a:rPr lang="en-US" sz="3598" spc="86" dirty="0">
                <a:solidFill>
                  <a:srgbClr val="000000"/>
                </a:solidFill>
                <a:latin typeface="Bitter"/>
                <a:ea typeface="Bitter"/>
                <a:cs typeface="Bitter"/>
                <a:sym typeface="Bitter"/>
              </a:rPr>
              <a:t>03. Data Sources </a:t>
            </a:r>
          </a:p>
          <a:p>
            <a:pPr>
              <a:lnSpc>
                <a:spcPts val="5037"/>
              </a:lnSpc>
            </a:pPr>
            <a:r>
              <a:rPr lang="en-US" sz="3598" spc="86" dirty="0">
                <a:solidFill>
                  <a:srgbClr val="000000"/>
                </a:solidFill>
                <a:latin typeface="Bitter"/>
                <a:ea typeface="Bitter"/>
                <a:cs typeface="Bitter"/>
                <a:sym typeface="Bitter"/>
              </a:rPr>
              <a:t>04. Methodology Overview</a:t>
            </a:r>
            <a:br>
              <a:rPr lang="en-US" sz="3598" spc="86" dirty="0">
                <a:solidFill>
                  <a:srgbClr val="000000"/>
                </a:solidFill>
                <a:latin typeface="Bitter"/>
                <a:ea typeface="Bitter"/>
                <a:cs typeface="Bitter"/>
                <a:sym typeface="Bitter"/>
              </a:rPr>
            </a:br>
            <a:r>
              <a:rPr lang="en-US" sz="3598" spc="86" dirty="0">
                <a:solidFill>
                  <a:srgbClr val="000000"/>
                </a:solidFill>
                <a:latin typeface="Bitter"/>
                <a:ea typeface="Bitter"/>
                <a:cs typeface="Bitter"/>
                <a:sym typeface="Bitter"/>
              </a:rPr>
              <a:t>05. Data Preparation</a:t>
            </a:r>
          </a:p>
          <a:p>
            <a:pPr>
              <a:lnSpc>
                <a:spcPts val="5037"/>
              </a:lnSpc>
            </a:pPr>
            <a:r>
              <a:rPr lang="en-US" sz="3598" spc="86" dirty="0">
                <a:solidFill>
                  <a:srgbClr val="000000"/>
                </a:solidFill>
                <a:latin typeface="Bitter"/>
                <a:ea typeface="Bitter"/>
                <a:cs typeface="Bitter"/>
                <a:sym typeface="Bitter"/>
              </a:rPr>
              <a:t>06. Analytics Methods</a:t>
            </a:r>
            <a:br>
              <a:rPr lang="en-US" sz="3598" spc="86" dirty="0">
                <a:solidFill>
                  <a:srgbClr val="000000"/>
                </a:solidFill>
                <a:latin typeface="Bitter"/>
                <a:ea typeface="Bitter"/>
                <a:cs typeface="Bitter"/>
                <a:sym typeface="Bitter"/>
              </a:rPr>
            </a:br>
            <a:r>
              <a:rPr lang="en-US" sz="3598" spc="86" dirty="0">
                <a:solidFill>
                  <a:srgbClr val="000000"/>
                </a:solidFill>
                <a:latin typeface="Bitter"/>
                <a:ea typeface="Bitter"/>
                <a:cs typeface="Bitter"/>
                <a:sym typeface="Bitter"/>
              </a:rPr>
              <a:t>07. 311 Request Trends (2017-2019)</a:t>
            </a:r>
            <a:br>
              <a:rPr lang="en-US" sz="3598" spc="86" dirty="0">
                <a:solidFill>
                  <a:srgbClr val="000000"/>
                </a:solidFill>
                <a:latin typeface="Bitter"/>
                <a:ea typeface="Bitter"/>
                <a:cs typeface="Bitter"/>
                <a:sym typeface="Bitter"/>
              </a:rPr>
            </a:br>
            <a:endParaRPr lang="en-US" sz="3598" spc="86" dirty="0">
              <a:solidFill>
                <a:srgbClr val="000000"/>
              </a:solidFill>
              <a:latin typeface="Bitter"/>
              <a:ea typeface="Bitter"/>
              <a:cs typeface="Bitter"/>
              <a:sym typeface="Bitter"/>
            </a:endParaRPr>
          </a:p>
          <a:p>
            <a:pPr>
              <a:lnSpc>
                <a:spcPts val="5037"/>
              </a:lnSpc>
            </a:pPr>
            <a:endParaRPr lang="en-US" sz="3598" spc="86" dirty="0">
              <a:solidFill>
                <a:srgbClr val="000000"/>
              </a:solidFill>
              <a:latin typeface="Bitter"/>
              <a:ea typeface="Bitter"/>
              <a:cs typeface="Bitter"/>
              <a:sym typeface="Bitter"/>
            </a:endParaRPr>
          </a:p>
          <a:p>
            <a:pPr>
              <a:lnSpc>
                <a:spcPts val="5037"/>
              </a:lnSpc>
            </a:pPr>
            <a:endParaRPr lang="en-US" sz="3598" spc="86" dirty="0">
              <a:solidFill>
                <a:srgbClr val="000000"/>
              </a:solidFill>
              <a:latin typeface="Bitter"/>
              <a:ea typeface="Bitter"/>
              <a:cs typeface="Bitter"/>
              <a:sym typeface="Bitter"/>
            </a:endParaRPr>
          </a:p>
          <a:p>
            <a:pPr>
              <a:lnSpc>
                <a:spcPts val="5037"/>
              </a:lnSpc>
            </a:pPr>
            <a:endParaRPr lang="en-US" sz="3598" spc="86" dirty="0">
              <a:solidFill>
                <a:srgbClr val="000000"/>
              </a:solidFill>
              <a:latin typeface="Bitter"/>
              <a:ea typeface="Bitter"/>
              <a:cs typeface="Bitter"/>
              <a:sym typeface="Bitter"/>
            </a:endParaRPr>
          </a:p>
          <a:p>
            <a:pPr>
              <a:lnSpc>
                <a:spcPts val="5037"/>
              </a:lnSpc>
            </a:pPr>
            <a:endParaRPr lang="en-US" sz="3598" spc="86" dirty="0">
              <a:solidFill>
                <a:srgbClr val="000000"/>
              </a:solidFill>
              <a:latin typeface="Bitter"/>
              <a:ea typeface="Bitter"/>
              <a:cs typeface="Bitter"/>
              <a:sym typeface="Bitter"/>
            </a:endParaRPr>
          </a:p>
          <a:p>
            <a:pPr>
              <a:lnSpc>
                <a:spcPts val="5037"/>
              </a:lnSpc>
            </a:pPr>
            <a:endParaRPr lang="en-US" sz="3598" spc="86" dirty="0">
              <a:solidFill>
                <a:srgbClr val="000000"/>
              </a:solidFill>
              <a:latin typeface="Bitter"/>
              <a:ea typeface="Bitter"/>
              <a:cs typeface="Bitter"/>
              <a:sym typeface="Bitter"/>
            </a:endParaRPr>
          </a:p>
          <a:p>
            <a:pPr>
              <a:lnSpc>
                <a:spcPts val="5037"/>
              </a:lnSpc>
            </a:pPr>
            <a:endParaRPr lang="en-US" sz="3598" spc="86" dirty="0">
              <a:solidFill>
                <a:srgbClr val="000000"/>
              </a:solidFill>
              <a:latin typeface="Bitter"/>
              <a:ea typeface="Bitter"/>
              <a:cs typeface="Bitter"/>
              <a:sym typeface="Bitter"/>
            </a:endParaRPr>
          </a:p>
          <a:p>
            <a:pPr>
              <a:lnSpc>
                <a:spcPts val="5037"/>
              </a:lnSpc>
            </a:pPr>
            <a:r>
              <a:rPr lang="en-US" sz="3598" spc="86" dirty="0">
                <a:solidFill>
                  <a:srgbClr val="000000"/>
                </a:solidFill>
                <a:latin typeface="Bitter"/>
                <a:ea typeface="Bitter"/>
                <a:cs typeface="Bitter"/>
                <a:sym typeface="Bitter"/>
              </a:rPr>
              <a:t>08. Most Common Complaint Types</a:t>
            </a:r>
          </a:p>
          <a:p>
            <a:pPr>
              <a:lnSpc>
                <a:spcPts val="5037"/>
              </a:lnSpc>
            </a:pPr>
            <a:r>
              <a:rPr lang="en-US" sz="3598" spc="86" dirty="0">
                <a:solidFill>
                  <a:srgbClr val="000000"/>
                </a:solidFill>
                <a:latin typeface="Bitter"/>
                <a:ea typeface="Bitter"/>
                <a:cs typeface="Bitter"/>
                <a:sym typeface="Bitter"/>
              </a:rPr>
              <a:t>09. Property Crime Trends</a:t>
            </a:r>
            <a:br>
              <a:rPr lang="en-US" sz="3598" spc="86" dirty="0">
                <a:solidFill>
                  <a:srgbClr val="000000"/>
                </a:solidFill>
                <a:latin typeface="Bitter"/>
                <a:ea typeface="Bitter"/>
                <a:cs typeface="Bitter"/>
                <a:sym typeface="Bitter"/>
              </a:rPr>
            </a:br>
            <a:r>
              <a:rPr lang="en-US" sz="3598" spc="86" dirty="0">
                <a:solidFill>
                  <a:srgbClr val="000000"/>
                </a:solidFill>
                <a:latin typeface="Bitter"/>
                <a:ea typeface="Bitter"/>
                <a:cs typeface="Bitter"/>
                <a:sym typeface="Bitter"/>
              </a:rPr>
              <a:t>10. Complaints vs Crime Comparison</a:t>
            </a:r>
            <a:br>
              <a:rPr lang="en-US" sz="3598" spc="86" dirty="0">
                <a:solidFill>
                  <a:srgbClr val="000000"/>
                </a:solidFill>
                <a:latin typeface="Bitter"/>
                <a:ea typeface="Bitter"/>
                <a:cs typeface="Bitter"/>
                <a:sym typeface="Bitter"/>
              </a:rPr>
            </a:br>
            <a:r>
              <a:rPr lang="en-US" sz="3598" spc="86" dirty="0">
                <a:solidFill>
                  <a:srgbClr val="000000"/>
                </a:solidFill>
                <a:latin typeface="Bitter"/>
                <a:ea typeface="Bitter"/>
                <a:cs typeface="Bitter"/>
                <a:sym typeface="Bitter"/>
              </a:rPr>
              <a:t>11. Complaint Themes</a:t>
            </a:r>
            <a:br>
              <a:rPr lang="en-US" sz="3598" spc="86" dirty="0">
                <a:solidFill>
                  <a:srgbClr val="000000"/>
                </a:solidFill>
                <a:latin typeface="Bitter"/>
                <a:ea typeface="Bitter"/>
                <a:cs typeface="Bitter"/>
                <a:sym typeface="Bitter"/>
              </a:rPr>
            </a:br>
            <a:r>
              <a:rPr lang="en-US" sz="3598" spc="86" dirty="0">
                <a:solidFill>
                  <a:srgbClr val="000000"/>
                </a:solidFill>
                <a:latin typeface="Bitter"/>
                <a:ea typeface="Bitter"/>
                <a:cs typeface="Bitter"/>
                <a:sym typeface="Bitter"/>
              </a:rPr>
              <a:t>13. Practical Implications</a:t>
            </a:r>
            <a:br>
              <a:rPr lang="en-US" sz="3598" spc="86" dirty="0">
                <a:solidFill>
                  <a:srgbClr val="000000"/>
                </a:solidFill>
                <a:latin typeface="Bitter"/>
                <a:ea typeface="Bitter"/>
                <a:cs typeface="Bitter"/>
                <a:sym typeface="Bitter"/>
              </a:rPr>
            </a:br>
            <a:r>
              <a:rPr lang="en-US" sz="3598" spc="86" dirty="0">
                <a:solidFill>
                  <a:srgbClr val="000000"/>
                </a:solidFill>
                <a:latin typeface="Bitter"/>
                <a:ea typeface="Bitter"/>
                <a:cs typeface="Bitter"/>
                <a:sym typeface="Bitter"/>
              </a:rPr>
              <a:t>14. Conclusion &amp; Team Contributions</a:t>
            </a:r>
          </a:p>
        </p:txBody>
      </p:sp>
    </p:spTree>
  </p:cSld>
  <p:clrMapOvr>
    <a:masterClrMapping/>
  </p:clrMapOvr>
  <mc:AlternateContent xmlns:mc="http://schemas.openxmlformats.org/markup-compatibility/2006">
    <mc:Choice xmlns:p14="http://schemas.microsoft.com/office/powerpoint/2010/main" Requires="p14">
      <p:transition spd="slow" p14:dur="2000" advTm="30855"/>
    </mc:Choice>
    <mc:Fallback>
      <p:transition spd="slow" advTm="3085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grpSp>
        <p:nvGrpSpPr>
          <p:cNvPr id="3" name="Group 3"/>
          <p:cNvGrpSpPr/>
          <p:nvPr/>
        </p:nvGrpSpPr>
        <p:grpSpPr>
          <a:xfrm rot="390979">
            <a:off x="1209483" y="2028637"/>
            <a:ext cx="6241597" cy="6473298"/>
            <a:chOff x="0" y="0"/>
            <a:chExt cx="1130596" cy="1172566"/>
          </a:xfrm>
        </p:grpSpPr>
        <p:sp>
          <p:nvSpPr>
            <p:cNvPr id="4" name="Freeform 4"/>
            <p:cNvSpPr/>
            <p:nvPr/>
          </p:nvSpPr>
          <p:spPr>
            <a:xfrm>
              <a:off x="0" y="0"/>
              <a:ext cx="1130596" cy="1172566"/>
            </a:xfrm>
            <a:custGeom>
              <a:avLst/>
              <a:gdLst/>
              <a:ahLst/>
              <a:cxnLst/>
              <a:rect l="l" t="t" r="r" b="b"/>
              <a:pathLst>
                <a:path w="1130596" h="1172566">
                  <a:moveTo>
                    <a:pt x="0" y="0"/>
                  </a:moveTo>
                  <a:lnTo>
                    <a:pt x="1130596" y="0"/>
                  </a:lnTo>
                  <a:lnTo>
                    <a:pt x="1130596" y="1172566"/>
                  </a:lnTo>
                  <a:lnTo>
                    <a:pt x="0" y="1172566"/>
                  </a:lnTo>
                  <a:close/>
                </a:path>
              </a:pathLst>
            </a:custGeom>
            <a:blipFill>
              <a:blip r:embed="rId4"/>
              <a:stretch>
                <a:fillRect t="-10217" b="-34503"/>
              </a:stretch>
            </a:blipFill>
            <a:ln w="57150" cap="sq">
              <a:solidFill>
                <a:srgbClr val="000000"/>
              </a:solidFill>
              <a:prstDash val="solid"/>
              <a:miter/>
            </a:ln>
          </p:spPr>
          <p:txBody>
            <a:bodyPr/>
            <a:lstStyle/>
            <a:p>
              <a:endParaRPr lang="en-US"/>
            </a:p>
          </p:txBody>
        </p:sp>
      </p:grpSp>
      <p:sp>
        <p:nvSpPr>
          <p:cNvPr id="5" name="TextBox 5"/>
          <p:cNvSpPr txBox="1"/>
          <p:nvPr/>
        </p:nvSpPr>
        <p:spPr>
          <a:xfrm>
            <a:off x="8635163" y="702720"/>
            <a:ext cx="7453786" cy="1308050"/>
          </a:xfrm>
          <a:prstGeom prst="rect">
            <a:avLst/>
          </a:prstGeom>
        </p:spPr>
        <p:txBody>
          <a:bodyPr lIns="0" tIns="0" rIns="0" bIns="0" rtlCol="0" anchor="t">
            <a:spAutoFit/>
          </a:bodyPr>
          <a:lstStyle/>
          <a:p>
            <a:pPr algn="l">
              <a:lnSpc>
                <a:spcPts val="10180"/>
              </a:lnSpc>
            </a:pPr>
            <a:r>
              <a:rPr lang="en-US" sz="9695" dirty="0">
                <a:solidFill>
                  <a:srgbClr val="000000"/>
                </a:solidFill>
                <a:latin typeface="Handelson Six"/>
                <a:ea typeface="Handelson Six"/>
                <a:cs typeface="Handelson Six"/>
                <a:sym typeface="Handelson Six"/>
              </a:rPr>
              <a:t>Project Goal</a:t>
            </a:r>
          </a:p>
        </p:txBody>
      </p:sp>
      <p:sp>
        <p:nvSpPr>
          <p:cNvPr id="6" name="TextBox 6"/>
          <p:cNvSpPr txBox="1"/>
          <p:nvPr/>
        </p:nvSpPr>
        <p:spPr>
          <a:xfrm>
            <a:off x="8609763" y="2802772"/>
            <a:ext cx="8103437" cy="6032421"/>
          </a:xfrm>
          <a:prstGeom prst="rect">
            <a:avLst/>
          </a:prstGeom>
        </p:spPr>
        <p:txBody>
          <a:bodyPr wrap="square" lIns="0" tIns="0" rIns="0" bIns="0" rtlCol="0" anchor="t">
            <a:spAutoFit/>
          </a:bodyPr>
          <a:lstStyle/>
          <a:p>
            <a:pPr algn="l"/>
            <a:r>
              <a:rPr lang="en-US" sz="2800" spc="56" dirty="0">
                <a:solidFill>
                  <a:srgbClr val="000000"/>
                </a:solidFill>
                <a:latin typeface="Bitter"/>
                <a:ea typeface="Bitter"/>
                <a:cs typeface="Bitter"/>
                <a:sym typeface="Bitter"/>
              </a:rPr>
              <a:t>Do citizen complaints reflect actual crime patterns?</a:t>
            </a:r>
            <a:br>
              <a:rPr lang="en-US" sz="2800" spc="56" dirty="0">
                <a:solidFill>
                  <a:srgbClr val="000000"/>
                </a:solidFill>
                <a:latin typeface="Bitter"/>
                <a:ea typeface="Bitter"/>
                <a:cs typeface="Bitter"/>
                <a:sym typeface="Bitter"/>
              </a:rPr>
            </a:br>
            <a:endParaRPr lang="en-US" sz="2800" spc="56" dirty="0">
              <a:solidFill>
                <a:srgbClr val="000000"/>
              </a:solidFill>
              <a:latin typeface="Bitter"/>
              <a:ea typeface="Bitter"/>
              <a:cs typeface="Bitter"/>
              <a:sym typeface="Bitter"/>
            </a:endParaRPr>
          </a:p>
          <a:p>
            <a:pPr marL="457200" indent="-457200" algn="l">
              <a:buFont typeface="Arial" panose="020B0604020202020204" pitchFamily="34" charset="0"/>
              <a:buChar char="•"/>
            </a:pPr>
            <a:r>
              <a:rPr lang="en-US" sz="2800" spc="56" dirty="0">
                <a:solidFill>
                  <a:srgbClr val="000000"/>
                </a:solidFill>
                <a:latin typeface="Bitter"/>
                <a:ea typeface="Bitter"/>
                <a:cs typeface="Bitter"/>
                <a:sym typeface="Bitter"/>
              </a:rPr>
              <a:t>Analyze trends in 311 service requests (2017–2019)</a:t>
            </a:r>
            <a:br>
              <a:rPr lang="en-US" sz="2800" spc="56" dirty="0">
                <a:solidFill>
                  <a:srgbClr val="000000"/>
                </a:solidFill>
                <a:latin typeface="Bitter"/>
                <a:ea typeface="Bitter"/>
                <a:cs typeface="Bitter"/>
                <a:sym typeface="Bitter"/>
              </a:rPr>
            </a:br>
            <a:endParaRPr lang="en-US" sz="2800" spc="56" dirty="0">
              <a:solidFill>
                <a:srgbClr val="000000"/>
              </a:solidFill>
              <a:latin typeface="Bitter"/>
              <a:ea typeface="Bitter"/>
              <a:cs typeface="Bitter"/>
              <a:sym typeface="Bitter"/>
            </a:endParaRPr>
          </a:p>
          <a:p>
            <a:pPr marL="342900" indent="-342900" algn="l">
              <a:buFont typeface="Arial" panose="020B0604020202020204" pitchFamily="34" charset="0"/>
              <a:buChar char="•"/>
            </a:pPr>
            <a:r>
              <a:rPr lang="en-US" sz="2800" spc="56" dirty="0">
                <a:solidFill>
                  <a:srgbClr val="000000"/>
                </a:solidFill>
                <a:latin typeface="Bitter"/>
                <a:ea typeface="Bitter"/>
                <a:cs typeface="Bitter"/>
                <a:sym typeface="Bitter"/>
              </a:rPr>
              <a:t>Compare complaint patterns with property crime data</a:t>
            </a:r>
            <a:br>
              <a:rPr lang="en-US" sz="2800" spc="56" dirty="0">
                <a:solidFill>
                  <a:srgbClr val="000000"/>
                </a:solidFill>
                <a:latin typeface="Bitter"/>
                <a:ea typeface="Bitter"/>
                <a:cs typeface="Bitter"/>
                <a:sym typeface="Bitter"/>
              </a:rPr>
            </a:br>
            <a:endParaRPr lang="en-US" sz="2800" spc="56" dirty="0">
              <a:solidFill>
                <a:srgbClr val="000000"/>
              </a:solidFill>
              <a:latin typeface="Bitter"/>
              <a:ea typeface="Bitter"/>
              <a:cs typeface="Bitter"/>
              <a:sym typeface="Bitter"/>
            </a:endParaRPr>
          </a:p>
          <a:p>
            <a:pPr marL="342900" indent="-342900" algn="l">
              <a:buFont typeface="Arial" panose="020B0604020202020204" pitchFamily="34" charset="0"/>
              <a:buChar char="•"/>
            </a:pPr>
            <a:r>
              <a:rPr lang="en-US" sz="2800" spc="56" dirty="0">
                <a:solidFill>
                  <a:srgbClr val="000000"/>
                </a:solidFill>
                <a:latin typeface="Bitter"/>
                <a:ea typeface="Bitter"/>
                <a:cs typeface="Bitter"/>
                <a:sym typeface="Bitter"/>
              </a:rPr>
              <a:t>Identify potential relationships between citizen reports and crime levels</a:t>
            </a:r>
            <a:br>
              <a:rPr lang="en-US" sz="2800" spc="56" dirty="0">
                <a:solidFill>
                  <a:srgbClr val="000000"/>
                </a:solidFill>
                <a:latin typeface="Bitter"/>
                <a:ea typeface="Bitter"/>
                <a:cs typeface="Bitter"/>
                <a:sym typeface="Bitter"/>
              </a:rPr>
            </a:br>
            <a:endParaRPr lang="en-US" sz="2800" spc="56" dirty="0">
              <a:solidFill>
                <a:srgbClr val="000000"/>
              </a:solidFill>
              <a:latin typeface="Bitter"/>
              <a:ea typeface="Bitter"/>
              <a:cs typeface="Bitter"/>
              <a:sym typeface="Bitter"/>
            </a:endParaRPr>
          </a:p>
          <a:p>
            <a:pPr marL="342900" indent="-342900" algn="l">
              <a:buFont typeface="Arial" panose="020B0604020202020204" pitchFamily="34" charset="0"/>
              <a:buChar char="•"/>
            </a:pPr>
            <a:r>
              <a:rPr lang="en-US" sz="2800" spc="56" dirty="0">
                <a:solidFill>
                  <a:srgbClr val="000000"/>
                </a:solidFill>
                <a:latin typeface="Bitter"/>
                <a:ea typeface="Bitter"/>
                <a:cs typeface="Bitter"/>
                <a:sym typeface="Bitter"/>
              </a:rPr>
              <a:t>Explore how public concerns reflect real-world crime trends</a:t>
            </a:r>
          </a:p>
        </p:txBody>
      </p:sp>
      <p:sp>
        <p:nvSpPr>
          <p:cNvPr id="7" name="Freeform 7"/>
          <p:cNvSpPr/>
          <p:nvPr/>
        </p:nvSpPr>
        <p:spPr>
          <a:xfrm rot="-1908664">
            <a:off x="1397021" y="1251301"/>
            <a:ext cx="617308" cy="1006481"/>
          </a:xfrm>
          <a:custGeom>
            <a:avLst/>
            <a:gdLst/>
            <a:ahLst/>
            <a:cxnLst/>
            <a:rect l="l" t="t" r="r" b="b"/>
            <a:pathLst>
              <a:path w="617308" h="1006481">
                <a:moveTo>
                  <a:pt x="0" y="0"/>
                </a:moveTo>
                <a:lnTo>
                  <a:pt x="617308" y="0"/>
                </a:lnTo>
                <a:lnTo>
                  <a:pt x="617308" y="1006481"/>
                </a:lnTo>
                <a:lnTo>
                  <a:pt x="0" y="10064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Rounded Rectangle 9">
            <a:extLst>
              <a:ext uri="{FF2B5EF4-FFF2-40B4-BE49-F238E27FC236}">
                <a16:creationId xmlns:a16="http://schemas.microsoft.com/office/drawing/2014/main" id="{E469D50E-CA5B-F64C-F922-96207822EACA}"/>
              </a:ext>
            </a:extLst>
          </p:cNvPr>
          <p:cNvSpPr/>
          <p:nvPr/>
        </p:nvSpPr>
        <p:spPr>
          <a:xfrm>
            <a:off x="8001000" y="2514694"/>
            <a:ext cx="8686800" cy="6561663"/>
          </a:xfrm>
          <a:prstGeom prst="roundRect">
            <a:avLst/>
          </a:prstGeom>
          <a:solidFill>
            <a:schemeClr val="dk1">
              <a:alpha val="19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Freeform 9"/>
          <p:cNvSpPr/>
          <p:nvPr/>
        </p:nvSpPr>
        <p:spPr>
          <a:xfrm rot="-1062782">
            <a:off x="7456175" y="9266456"/>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p:cNvSpPr/>
          <p:nvPr/>
        </p:nvSpPr>
        <p:spPr>
          <a:xfrm rot="19846754">
            <a:off x="4432741" y="9503785"/>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TextBox 5">
            <a:extLst>
              <a:ext uri="{FF2B5EF4-FFF2-40B4-BE49-F238E27FC236}">
                <a16:creationId xmlns:a16="http://schemas.microsoft.com/office/drawing/2014/main" id="{0C2EF185-87B3-B3E1-0D39-2C6BC7039771}"/>
              </a:ext>
            </a:extLst>
          </p:cNvPr>
          <p:cNvSpPr txBox="1"/>
          <p:nvPr/>
        </p:nvSpPr>
        <p:spPr>
          <a:xfrm>
            <a:off x="8635163" y="1398555"/>
            <a:ext cx="7453786" cy="1116139"/>
          </a:xfrm>
          <a:prstGeom prst="rect">
            <a:avLst/>
          </a:prstGeom>
        </p:spPr>
        <p:txBody>
          <a:bodyPr lIns="0" tIns="0" rIns="0" bIns="0" rtlCol="0" anchor="t">
            <a:spAutoFit/>
          </a:bodyPr>
          <a:lstStyle/>
          <a:p>
            <a:pPr algn="l">
              <a:lnSpc>
                <a:spcPts val="10180"/>
              </a:lnSpc>
            </a:pPr>
            <a:r>
              <a:rPr lang="en-US" sz="4000" dirty="0">
                <a:solidFill>
                  <a:srgbClr val="000000"/>
                </a:solidFill>
                <a:latin typeface="Handelson Six"/>
                <a:ea typeface="Handelson Six"/>
                <a:cs typeface="Handelson Six"/>
                <a:sym typeface="Handelson Six"/>
              </a:rPr>
              <a:t>Miami Dade county analysis</a:t>
            </a:r>
          </a:p>
        </p:txBody>
      </p:sp>
    </p:spTree>
  </p:cSld>
  <p:clrMapOvr>
    <a:masterClrMapping/>
  </p:clrMapOvr>
  <mc:AlternateContent xmlns:mc="http://schemas.openxmlformats.org/markup-compatibility/2006">
    <mc:Choice xmlns:p14="http://schemas.microsoft.com/office/powerpoint/2010/main" Requires="p14">
      <p:transition spd="slow" p14:dur="2000" advTm="35248"/>
    </mc:Choice>
    <mc:Fallback>
      <p:transition spd="slow" advTm="3524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grpSp>
        <p:nvGrpSpPr>
          <p:cNvPr id="3" name="Group 3"/>
          <p:cNvGrpSpPr/>
          <p:nvPr/>
        </p:nvGrpSpPr>
        <p:grpSpPr>
          <a:xfrm rot="317401">
            <a:off x="10174750" y="1735625"/>
            <a:ext cx="4543772" cy="5446198"/>
            <a:chOff x="0" y="0"/>
            <a:chExt cx="1049659" cy="1258129"/>
          </a:xfrm>
        </p:grpSpPr>
        <p:sp>
          <p:nvSpPr>
            <p:cNvPr id="4" name="Freeform 4"/>
            <p:cNvSpPr/>
            <p:nvPr/>
          </p:nvSpPr>
          <p:spPr>
            <a:xfrm>
              <a:off x="0" y="0"/>
              <a:ext cx="1049659" cy="1258129"/>
            </a:xfrm>
            <a:custGeom>
              <a:avLst/>
              <a:gdLst/>
              <a:ahLst/>
              <a:cxnLst/>
              <a:rect l="l" t="t" r="r" b="b"/>
              <a:pathLst>
                <a:path w="1049659" h="1258129">
                  <a:moveTo>
                    <a:pt x="0" y="0"/>
                  </a:moveTo>
                  <a:lnTo>
                    <a:pt x="1049659" y="0"/>
                  </a:lnTo>
                  <a:lnTo>
                    <a:pt x="1049659" y="1258129"/>
                  </a:lnTo>
                  <a:lnTo>
                    <a:pt x="0" y="1258129"/>
                  </a:lnTo>
                  <a:close/>
                </a:path>
              </a:pathLst>
            </a:custGeom>
            <a:blipFill>
              <a:blip r:embed="rId4"/>
              <a:stretch>
                <a:fillRect l="-39895" r="-39895"/>
              </a:stretch>
            </a:blipFill>
            <a:ln w="47625" cap="sq">
              <a:solidFill>
                <a:srgbClr val="FFFFFF"/>
              </a:solidFill>
              <a:prstDash val="solid"/>
              <a:miter/>
            </a:ln>
          </p:spPr>
          <p:txBody>
            <a:bodyPr/>
            <a:lstStyle/>
            <a:p>
              <a:endParaRPr lang="en-US"/>
            </a:p>
          </p:txBody>
        </p:sp>
      </p:grpSp>
      <p:grpSp>
        <p:nvGrpSpPr>
          <p:cNvPr id="5" name="Group 5"/>
          <p:cNvGrpSpPr/>
          <p:nvPr/>
        </p:nvGrpSpPr>
        <p:grpSpPr>
          <a:xfrm rot="-119455">
            <a:off x="13170357" y="4612314"/>
            <a:ext cx="3579103" cy="4325833"/>
            <a:chOff x="0" y="0"/>
            <a:chExt cx="547024" cy="661152"/>
          </a:xfrm>
        </p:grpSpPr>
        <p:sp>
          <p:nvSpPr>
            <p:cNvPr id="6" name="Freeform 6"/>
            <p:cNvSpPr/>
            <p:nvPr/>
          </p:nvSpPr>
          <p:spPr>
            <a:xfrm>
              <a:off x="0" y="0"/>
              <a:ext cx="547024" cy="661152"/>
            </a:xfrm>
            <a:custGeom>
              <a:avLst/>
              <a:gdLst/>
              <a:ahLst/>
              <a:cxnLst/>
              <a:rect l="l" t="t" r="r" b="b"/>
              <a:pathLst>
                <a:path w="547024" h="661152">
                  <a:moveTo>
                    <a:pt x="0" y="0"/>
                  </a:moveTo>
                  <a:lnTo>
                    <a:pt x="547024" y="0"/>
                  </a:lnTo>
                  <a:lnTo>
                    <a:pt x="547024" y="661152"/>
                  </a:lnTo>
                  <a:lnTo>
                    <a:pt x="0" y="661152"/>
                  </a:lnTo>
                  <a:close/>
                </a:path>
              </a:pathLst>
            </a:custGeom>
            <a:blipFill>
              <a:blip r:embed="rId5"/>
              <a:stretch>
                <a:fillRect l="-40704" r="-40704"/>
              </a:stretch>
            </a:blipFill>
            <a:ln w="47625" cap="sq">
              <a:solidFill>
                <a:srgbClr val="FFFFFF"/>
              </a:solidFill>
              <a:prstDash val="solid"/>
              <a:miter/>
            </a:ln>
          </p:spPr>
          <p:txBody>
            <a:bodyPr/>
            <a:lstStyle/>
            <a:p>
              <a:endParaRPr lang="en-US"/>
            </a:p>
          </p:txBody>
        </p:sp>
      </p:grpSp>
      <p:sp>
        <p:nvSpPr>
          <p:cNvPr id="7" name="Freeform 7"/>
          <p:cNvSpPr/>
          <p:nvPr/>
        </p:nvSpPr>
        <p:spPr>
          <a:xfrm rot="-1243576">
            <a:off x="-7030019" y="616289"/>
            <a:ext cx="19724024" cy="824823"/>
          </a:xfrm>
          <a:custGeom>
            <a:avLst/>
            <a:gdLst/>
            <a:ahLst/>
            <a:cxnLst/>
            <a:rect l="l" t="t" r="r" b="b"/>
            <a:pathLst>
              <a:path w="19724024" h="824823">
                <a:moveTo>
                  <a:pt x="0" y="0"/>
                </a:moveTo>
                <a:lnTo>
                  <a:pt x="19724024" y="0"/>
                </a:lnTo>
                <a:lnTo>
                  <a:pt x="19724024" y="824822"/>
                </a:lnTo>
                <a:lnTo>
                  <a:pt x="0" y="82482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p:cNvSpPr/>
          <p:nvPr/>
        </p:nvSpPr>
        <p:spPr>
          <a:xfrm rot="2442344">
            <a:off x="14644442" y="1530720"/>
            <a:ext cx="498939" cy="813487"/>
          </a:xfrm>
          <a:custGeom>
            <a:avLst/>
            <a:gdLst/>
            <a:ahLst/>
            <a:cxnLst/>
            <a:rect l="l" t="t" r="r" b="b"/>
            <a:pathLst>
              <a:path w="498939" h="813487">
                <a:moveTo>
                  <a:pt x="0" y="0"/>
                </a:moveTo>
                <a:lnTo>
                  <a:pt x="498938" y="0"/>
                </a:lnTo>
                <a:lnTo>
                  <a:pt x="498938" y="813487"/>
                </a:lnTo>
                <a:lnTo>
                  <a:pt x="0" y="81348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TextBox 9"/>
          <p:cNvSpPr txBox="1"/>
          <p:nvPr/>
        </p:nvSpPr>
        <p:spPr>
          <a:xfrm>
            <a:off x="1183176" y="2353202"/>
            <a:ext cx="8108562" cy="1461939"/>
          </a:xfrm>
          <a:prstGeom prst="rect">
            <a:avLst/>
          </a:prstGeom>
        </p:spPr>
        <p:txBody>
          <a:bodyPr lIns="0" tIns="0" rIns="0" bIns="0" rtlCol="0" anchor="t">
            <a:spAutoFit/>
          </a:bodyPr>
          <a:lstStyle/>
          <a:p>
            <a:pPr algn="l">
              <a:lnSpc>
                <a:spcPts val="11368"/>
              </a:lnSpc>
            </a:pPr>
            <a:r>
              <a:rPr lang="en-US" sz="9634" dirty="0">
                <a:solidFill>
                  <a:srgbClr val="FFFFFF"/>
                </a:solidFill>
                <a:latin typeface="Handelson Six"/>
                <a:ea typeface="Handelson Six"/>
                <a:cs typeface="Handelson Six"/>
                <a:sym typeface="Handelson Six"/>
              </a:rPr>
              <a:t>Key Questions</a:t>
            </a:r>
          </a:p>
        </p:txBody>
      </p:sp>
      <p:sp>
        <p:nvSpPr>
          <p:cNvPr id="10" name="TextBox 10"/>
          <p:cNvSpPr txBox="1"/>
          <p:nvPr/>
        </p:nvSpPr>
        <p:spPr>
          <a:xfrm>
            <a:off x="1183176" y="4420624"/>
            <a:ext cx="8108562" cy="5189434"/>
          </a:xfrm>
          <a:prstGeom prst="rect">
            <a:avLst/>
          </a:prstGeom>
        </p:spPr>
        <p:txBody>
          <a:bodyPr wrap="square" lIns="0" tIns="0" rIns="0" bIns="0" rtlCol="0" anchor="t">
            <a:spAutoFit/>
          </a:bodyPr>
          <a:lstStyle/>
          <a:p>
            <a:pPr marL="457200" indent="-457200" algn="l">
              <a:lnSpc>
                <a:spcPts val="3653"/>
              </a:lnSpc>
              <a:buFont typeface="Arial" panose="020B0604020202020204" pitchFamily="34" charset="0"/>
              <a:buChar char="•"/>
            </a:pPr>
            <a:r>
              <a:rPr lang="en-US" sz="2609" spc="62" dirty="0">
                <a:solidFill>
                  <a:srgbClr val="FFFFFF"/>
                </a:solidFill>
                <a:latin typeface="Bitter"/>
                <a:ea typeface="Bitter"/>
                <a:cs typeface="Bitter"/>
                <a:sym typeface="Bitter"/>
              </a:rPr>
              <a:t>How do 311 requests change in Miami-Dade County from 2017–2019?</a:t>
            </a:r>
            <a:br>
              <a:rPr lang="en-US" sz="2609" spc="62" dirty="0">
                <a:solidFill>
                  <a:srgbClr val="FFFFFF"/>
                </a:solidFill>
                <a:latin typeface="Bitter"/>
                <a:ea typeface="Bitter"/>
                <a:cs typeface="Bitter"/>
                <a:sym typeface="Bitter"/>
              </a:rPr>
            </a:br>
            <a:endParaRPr lang="en-US" sz="2609" spc="62" dirty="0">
              <a:solidFill>
                <a:srgbClr val="FFFFFF"/>
              </a:solidFill>
              <a:latin typeface="Bitter"/>
              <a:ea typeface="Bitter"/>
              <a:cs typeface="Bitter"/>
              <a:sym typeface="Bitter"/>
            </a:endParaRPr>
          </a:p>
          <a:p>
            <a:pPr marL="457200" indent="-457200" algn="l">
              <a:lnSpc>
                <a:spcPts val="3653"/>
              </a:lnSpc>
              <a:buFont typeface="Arial" panose="020B0604020202020204" pitchFamily="34" charset="0"/>
              <a:buChar char="•"/>
            </a:pPr>
            <a:r>
              <a:rPr lang="en-US" sz="2609" spc="62" dirty="0">
                <a:solidFill>
                  <a:srgbClr val="FFFFFF"/>
                </a:solidFill>
                <a:latin typeface="Bitter"/>
                <a:ea typeface="Bitter"/>
                <a:cs typeface="Bitter"/>
                <a:sym typeface="Bitter"/>
              </a:rPr>
              <a:t>What are the most common types of service requests?</a:t>
            </a:r>
            <a:br>
              <a:rPr lang="en-US" sz="2609" spc="62" dirty="0">
                <a:solidFill>
                  <a:srgbClr val="FFFFFF"/>
                </a:solidFill>
                <a:latin typeface="Bitter"/>
                <a:ea typeface="Bitter"/>
                <a:cs typeface="Bitter"/>
                <a:sym typeface="Bitter"/>
              </a:rPr>
            </a:br>
            <a:endParaRPr lang="en-US" sz="2609" spc="62" dirty="0">
              <a:solidFill>
                <a:srgbClr val="FFFFFF"/>
              </a:solidFill>
              <a:latin typeface="Bitter"/>
              <a:ea typeface="Bitter"/>
              <a:cs typeface="Bitter"/>
              <a:sym typeface="Bitter"/>
            </a:endParaRPr>
          </a:p>
          <a:p>
            <a:pPr marL="457200" indent="-457200" algn="l">
              <a:lnSpc>
                <a:spcPts val="3653"/>
              </a:lnSpc>
              <a:buFont typeface="Arial" panose="020B0604020202020204" pitchFamily="34" charset="0"/>
              <a:buChar char="•"/>
            </a:pPr>
            <a:r>
              <a:rPr lang="en-US" sz="2609" spc="62" dirty="0">
                <a:solidFill>
                  <a:srgbClr val="FFFFFF"/>
                </a:solidFill>
                <a:latin typeface="Bitter"/>
                <a:ea typeface="Bitter"/>
                <a:cs typeface="Bitter"/>
                <a:sym typeface="Bitter"/>
              </a:rPr>
              <a:t>How do property crime trends change over the same period?</a:t>
            </a:r>
            <a:br>
              <a:rPr lang="en-US" sz="2609" spc="62" dirty="0">
                <a:solidFill>
                  <a:srgbClr val="FFFFFF"/>
                </a:solidFill>
                <a:latin typeface="Bitter"/>
                <a:ea typeface="Bitter"/>
                <a:cs typeface="Bitter"/>
                <a:sym typeface="Bitter"/>
              </a:rPr>
            </a:br>
            <a:endParaRPr lang="en-US" sz="2609" spc="62" dirty="0">
              <a:solidFill>
                <a:srgbClr val="FFFFFF"/>
              </a:solidFill>
              <a:latin typeface="Bitter"/>
              <a:ea typeface="Bitter"/>
              <a:cs typeface="Bitter"/>
              <a:sym typeface="Bitter"/>
            </a:endParaRPr>
          </a:p>
          <a:p>
            <a:pPr marL="457200" indent="-457200" algn="l">
              <a:lnSpc>
                <a:spcPts val="3653"/>
              </a:lnSpc>
              <a:buFont typeface="Arial" panose="020B0604020202020204" pitchFamily="34" charset="0"/>
              <a:buChar char="•"/>
            </a:pPr>
            <a:r>
              <a:rPr lang="en-US" sz="2609" spc="62" dirty="0">
                <a:solidFill>
                  <a:srgbClr val="FFFFFF"/>
                </a:solidFill>
                <a:latin typeface="Bitter"/>
                <a:ea typeface="Bitter"/>
                <a:cs typeface="Bitter"/>
                <a:sym typeface="Bitter"/>
              </a:rPr>
              <a:t>Is there a relationship between 311 complaints and property crime trends?</a:t>
            </a:r>
          </a:p>
        </p:txBody>
      </p:sp>
    </p:spTree>
  </p:cSld>
  <p:clrMapOvr>
    <a:masterClrMapping/>
  </p:clrMapOvr>
  <mc:AlternateContent xmlns:mc="http://schemas.openxmlformats.org/markup-compatibility/2006">
    <mc:Choice xmlns:p14="http://schemas.microsoft.com/office/powerpoint/2010/main" Requires="p14">
      <p:transition spd="slow" p14:dur="2000" advTm="35876"/>
    </mc:Choice>
    <mc:Fallback>
      <p:transition spd="slow" advTm="3587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dpi="0" rotWithShape="1">
            <a:blip r:embed="rId3">
              <a:alphaModFix/>
              <a:extLst>
                <a:ext uri="{BEBA8EAE-BF5A-486C-A8C5-ECC9F3942E4B}">
                  <a14:imgProps xmlns:a14="http://schemas.microsoft.com/office/drawing/2010/main">
                    <a14:imgLayer r:embed="rId4">
                      <a14:imgEffect>
                        <a14:brightnessContrast contrast="13000"/>
                      </a14:imgEffect>
                    </a14:imgLayer>
                  </a14:imgProps>
                </a:ext>
              </a:extLst>
            </a:blip>
            <a:srcRect/>
            <a:stretch>
              <a:fillRect l="-6011" t="-516" r="-2323" b="-27800"/>
            </a:stretch>
          </a:blipFill>
        </p:spPr>
        <p:txBody>
          <a:bodyPr/>
          <a:lstStyle/>
          <a:p>
            <a:endParaRPr lang="en-US"/>
          </a:p>
        </p:txBody>
      </p:sp>
      <p:sp>
        <p:nvSpPr>
          <p:cNvPr id="3" name="TextBox 3"/>
          <p:cNvSpPr txBox="1"/>
          <p:nvPr/>
        </p:nvSpPr>
        <p:spPr>
          <a:xfrm>
            <a:off x="1041400" y="1590983"/>
            <a:ext cx="15112735" cy="1320874"/>
          </a:xfrm>
          <a:prstGeom prst="rect">
            <a:avLst/>
          </a:prstGeom>
        </p:spPr>
        <p:txBody>
          <a:bodyPr wrap="square" lIns="0" tIns="0" rIns="0" bIns="0" rtlCol="0" anchor="t">
            <a:spAutoFit/>
          </a:bodyPr>
          <a:lstStyle/>
          <a:p>
            <a:pPr algn="l">
              <a:lnSpc>
                <a:spcPts val="10338"/>
              </a:lnSpc>
            </a:pPr>
            <a:r>
              <a:rPr lang="en-US" sz="8761">
                <a:solidFill>
                  <a:srgbClr val="FFFFFF"/>
                </a:solidFill>
                <a:latin typeface="Handelson Six"/>
                <a:ea typeface="Handelson Six"/>
                <a:cs typeface="Handelson Six"/>
                <a:sym typeface="Handelson Six"/>
              </a:rPr>
              <a:t>Dataset: 311 Service Requests</a:t>
            </a:r>
          </a:p>
        </p:txBody>
      </p:sp>
      <p:sp>
        <p:nvSpPr>
          <p:cNvPr id="4" name="TextBox 4"/>
          <p:cNvSpPr txBox="1"/>
          <p:nvPr/>
        </p:nvSpPr>
        <p:spPr>
          <a:xfrm>
            <a:off x="947670" y="4789038"/>
            <a:ext cx="8043930" cy="3782702"/>
          </a:xfrm>
          <a:prstGeom prst="rect">
            <a:avLst/>
          </a:prstGeom>
        </p:spPr>
        <p:txBody>
          <a:bodyPr wrap="square" lIns="0" tIns="0" rIns="0" bIns="0" rtlCol="0" anchor="t">
            <a:spAutoFit/>
          </a:bodyPr>
          <a:lstStyle/>
          <a:p>
            <a:pPr marL="342900" indent="-342900" algn="l">
              <a:lnSpc>
                <a:spcPts val="3286"/>
              </a:lnSpc>
              <a:buFont typeface="Arial" panose="020B0604020202020204" pitchFamily="34" charset="0"/>
              <a:buChar char="•"/>
            </a:pPr>
            <a:r>
              <a:rPr lang="en-US" sz="2610" spc="56">
                <a:solidFill>
                  <a:srgbClr val="FFFFFF"/>
                </a:solidFill>
                <a:latin typeface="Bitter"/>
                <a:ea typeface="Bitter"/>
                <a:cs typeface="Bitter"/>
                <a:sym typeface="Bitter"/>
              </a:rPr>
              <a:t>Source: Miami-Dade Open Data Portal</a:t>
            </a:r>
            <a:br>
              <a:rPr lang="en-US" sz="2610" spc="56">
                <a:solidFill>
                  <a:srgbClr val="FFFFFF"/>
                </a:solidFill>
                <a:latin typeface="Bitter"/>
                <a:ea typeface="Bitter"/>
                <a:cs typeface="Bitter"/>
                <a:sym typeface="Bitter"/>
              </a:rPr>
            </a:br>
            <a:endParaRPr lang="en-US" sz="2610" spc="56">
              <a:solidFill>
                <a:srgbClr val="FFFFFF"/>
              </a:solidFill>
              <a:latin typeface="Bitter"/>
              <a:ea typeface="Bitter"/>
              <a:cs typeface="Bitter"/>
              <a:sym typeface="Bitter"/>
            </a:endParaRPr>
          </a:p>
          <a:p>
            <a:pPr marL="342900" indent="-342900" algn="l">
              <a:lnSpc>
                <a:spcPts val="3286"/>
              </a:lnSpc>
              <a:buFont typeface="Arial" panose="020B0604020202020204" pitchFamily="34" charset="0"/>
              <a:buChar char="•"/>
            </a:pPr>
            <a:r>
              <a:rPr lang="en-US" sz="2610" spc="56">
                <a:solidFill>
                  <a:srgbClr val="FFFFFF"/>
                </a:solidFill>
                <a:latin typeface="Bitter"/>
                <a:ea typeface="Bitter"/>
                <a:cs typeface="Bitter"/>
                <a:sym typeface="Bitter"/>
              </a:rPr>
              <a:t>Years: 2017 –  2019 </a:t>
            </a:r>
            <a:br>
              <a:rPr lang="en-US" sz="2610" spc="56">
                <a:solidFill>
                  <a:srgbClr val="FFFFFF"/>
                </a:solidFill>
                <a:latin typeface="Bitter"/>
                <a:ea typeface="Bitter"/>
                <a:cs typeface="Bitter"/>
                <a:sym typeface="Bitter"/>
              </a:rPr>
            </a:br>
            <a:endParaRPr lang="en-US" sz="2610" spc="56">
              <a:solidFill>
                <a:srgbClr val="FFFFFF"/>
              </a:solidFill>
              <a:latin typeface="Bitter"/>
              <a:ea typeface="Bitter"/>
              <a:cs typeface="Bitter"/>
              <a:sym typeface="Bitter"/>
            </a:endParaRPr>
          </a:p>
          <a:p>
            <a:pPr marL="342900" indent="-342900" algn="l">
              <a:lnSpc>
                <a:spcPts val="3286"/>
              </a:lnSpc>
              <a:buFont typeface="Arial" panose="020B0604020202020204" pitchFamily="34" charset="0"/>
              <a:buChar char="•"/>
            </a:pPr>
            <a:r>
              <a:rPr lang="en-US" sz="2610" spc="56">
                <a:solidFill>
                  <a:srgbClr val="FFFFFF"/>
                </a:solidFill>
                <a:latin typeface="Bitter"/>
                <a:ea typeface="Bitter"/>
                <a:cs typeface="Bitter"/>
                <a:sym typeface="Bitter"/>
              </a:rPr>
              <a:t>Size: ~320,000+ records per year (~960,000 total)</a:t>
            </a:r>
            <a:br>
              <a:rPr lang="en-US" sz="2610" spc="56">
                <a:solidFill>
                  <a:srgbClr val="FFFFFF"/>
                </a:solidFill>
                <a:latin typeface="Bitter"/>
                <a:ea typeface="Bitter"/>
                <a:cs typeface="Bitter"/>
                <a:sym typeface="Bitter"/>
              </a:rPr>
            </a:br>
            <a:endParaRPr lang="en-US" sz="2610" spc="56">
              <a:solidFill>
                <a:srgbClr val="FFFFFF"/>
              </a:solidFill>
              <a:latin typeface="Bitter"/>
              <a:ea typeface="Bitter"/>
              <a:cs typeface="Bitter"/>
              <a:sym typeface="Bitter"/>
            </a:endParaRPr>
          </a:p>
          <a:p>
            <a:pPr marL="342900" indent="-342900" algn="l">
              <a:lnSpc>
                <a:spcPts val="3286"/>
              </a:lnSpc>
              <a:buFont typeface="Arial" panose="020B0604020202020204" pitchFamily="34" charset="0"/>
              <a:buChar char="•"/>
            </a:pPr>
            <a:r>
              <a:rPr lang="en-US" sz="2610" spc="56">
                <a:solidFill>
                  <a:srgbClr val="FFFFFF"/>
                </a:solidFill>
                <a:latin typeface="Bitter"/>
                <a:ea typeface="Bitter"/>
                <a:cs typeface="Bitter"/>
                <a:sym typeface="Bitter"/>
              </a:rPr>
              <a:t>Type: Non-emergency service requests submitted by residents</a:t>
            </a:r>
          </a:p>
        </p:txBody>
      </p:sp>
      <p:sp>
        <p:nvSpPr>
          <p:cNvPr id="5" name="TextBox 5"/>
          <p:cNvSpPr txBox="1"/>
          <p:nvPr/>
        </p:nvSpPr>
        <p:spPr>
          <a:xfrm>
            <a:off x="9939270" y="3154961"/>
            <a:ext cx="6651759" cy="1159613"/>
          </a:xfrm>
          <a:prstGeom prst="rect">
            <a:avLst/>
          </a:prstGeom>
        </p:spPr>
        <p:txBody>
          <a:bodyPr lIns="0" tIns="0" rIns="0" bIns="0" rtlCol="0" anchor="t">
            <a:spAutoFit/>
          </a:bodyPr>
          <a:lstStyle/>
          <a:p>
            <a:pPr algn="l">
              <a:lnSpc>
                <a:spcPts val="10338"/>
              </a:lnSpc>
            </a:pPr>
            <a:r>
              <a:rPr lang="en-US" sz="4800">
                <a:solidFill>
                  <a:srgbClr val="FFFFFF"/>
                </a:solidFill>
                <a:latin typeface="Handelson Six"/>
                <a:ea typeface="Handelson Six"/>
                <a:cs typeface="Handelson Six"/>
                <a:sym typeface="Handelson Six"/>
              </a:rPr>
              <a:t>Key Variables:</a:t>
            </a:r>
          </a:p>
        </p:txBody>
      </p:sp>
      <p:sp>
        <p:nvSpPr>
          <p:cNvPr id="6" name="TextBox 6"/>
          <p:cNvSpPr txBox="1"/>
          <p:nvPr/>
        </p:nvSpPr>
        <p:spPr>
          <a:xfrm>
            <a:off x="9939270" y="4712569"/>
            <a:ext cx="7737610" cy="4214808"/>
          </a:xfrm>
          <a:prstGeom prst="rect">
            <a:avLst/>
          </a:prstGeom>
        </p:spPr>
        <p:txBody>
          <a:bodyPr wrap="square" lIns="0" tIns="0" rIns="0" bIns="0" rtlCol="0" anchor="t">
            <a:spAutoFit/>
          </a:bodyPr>
          <a:lstStyle/>
          <a:p>
            <a:pPr marL="342900" indent="-342900" algn="l">
              <a:lnSpc>
                <a:spcPts val="3286"/>
              </a:lnSpc>
              <a:buFont typeface="Arial" panose="020B0604020202020204" pitchFamily="34" charset="0"/>
              <a:buChar char="•"/>
            </a:pPr>
            <a:r>
              <a:rPr lang="en-US" sz="2610" spc="56">
                <a:solidFill>
                  <a:srgbClr val="FFFFFF"/>
                </a:solidFill>
                <a:latin typeface="Consolas" panose="020B0609020204030204" pitchFamily="49" charset="0"/>
                <a:ea typeface="Bitter"/>
                <a:cs typeface="Consolas" panose="020B0609020204030204" pitchFamily="49" charset="0"/>
                <a:sym typeface="Bitter"/>
              </a:rPr>
              <a:t>issue_type</a:t>
            </a:r>
            <a:r>
              <a:rPr lang="en-US" sz="2610" spc="56">
                <a:solidFill>
                  <a:srgbClr val="FFFFFF"/>
                </a:solidFill>
                <a:latin typeface="Bitter"/>
                <a:ea typeface="Bitter"/>
                <a:cs typeface="Bitter"/>
                <a:sym typeface="Bitter"/>
              </a:rPr>
              <a:t> – category of complaint</a:t>
            </a:r>
            <a:br>
              <a:rPr lang="en-US" sz="2610" spc="56">
                <a:solidFill>
                  <a:srgbClr val="FFFFFF"/>
                </a:solidFill>
                <a:latin typeface="Bitter"/>
                <a:ea typeface="Bitter"/>
                <a:cs typeface="Bitter"/>
                <a:sym typeface="Bitter"/>
              </a:rPr>
            </a:br>
            <a:endParaRPr lang="en-US" sz="2610" spc="56">
              <a:solidFill>
                <a:srgbClr val="FFFFFF"/>
              </a:solidFill>
              <a:latin typeface="Bitter"/>
              <a:ea typeface="Bitter"/>
              <a:cs typeface="Bitter"/>
              <a:sym typeface="Bitter"/>
            </a:endParaRPr>
          </a:p>
          <a:p>
            <a:pPr marL="342900" indent="-342900" algn="l">
              <a:lnSpc>
                <a:spcPts val="3286"/>
              </a:lnSpc>
              <a:buFont typeface="Arial" panose="020B0604020202020204" pitchFamily="34" charset="0"/>
              <a:buChar char="•"/>
            </a:pPr>
            <a:r>
              <a:rPr lang="en-US" sz="2610" spc="56">
                <a:solidFill>
                  <a:srgbClr val="FFFFFF"/>
                </a:solidFill>
                <a:latin typeface="Consolas" panose="020B0609020204030204" pitchFamily="49" charset="0"/>
                <a:ea typeface="Bitter"/>
                <a:cs typeface="Consolas" panose="020B0609020204030204" pitchFamily="49" charset="0"/>
                <a:sym typeface="Bitter"/>
              </a:rPr>
              <a:t>ticket_created_date_time </a:t>
            </a:r>
            <a:r>
              <a:rPr lang="en-US" sz="2610" spc="56">
                <a:solidFill>
                  <a:srgbClr val="FFFFFF"/>
                </a:solidFill>
                <a:latin typeface="Bitter"/>
                <a:ea typeface="Bitter"/>
                <a:cs typeface="Bitter"/>
                <a:sym typeface="Bitter"/>
              </a:rPr>
              <a:t>– when request was submitted</a:t>
            </a:r>
            <a:br>
              <a:rPr lang="en-US" sz="2610" spc="56">
                <a:solidFill>
                  <a:srgbClr val="FFFFFF"/>
                </a:solidFill>
                <a:latin typeface="Bitter"/>
                <a:ea typeface="Bitter"/>
                <a:cs typeface="Bitter"/>
                <a:sym typeface="Bitter"/>
              </a:rPr>
            </a:br>
            <a:endParaRPr lang="en-US" sz="2610" spc="56">
              <a:solidFill>
                <a:srgbClr val="FFFFFF"/>
              </a:solidFill>
              <a:latin typeface="Bitter"/>
              <a:ea typeface="Bitter"/>
              <a:cs typeface="Bitter"/>
              <a:sym typeface="Bitter"/>
            </a:endParaRPr>
          </a:p>
          <a:p>
            <a:pPr marL="342900" indent="-342900" algn="l">
              <a:lnSpc>
                <a:spcPts val="3286"/>
              </a:lnSpc>
              <a:buFont typeface="Arial" panose="020B0604020202020204" pitchFamily="34" charset="0"/>
              <a:buChar char="•"/>
            </a:pPr>
            <a:r>
              <a:rPr lang="en-US" sz="2610" spc="56">
                <a:solidFill>
                  <a:srgbClr val="FFFFFF"/>
                </a:solidFill>
                <a:latin typeface="Consolas" panose="020B0609020204030204" pitchFamily="49" charset="0"/>
                <a:ea typeface="Bitter"/>
                <a:cs typeface="Consolas" panose="020B0609020204030204" pitchFamily="49" charset="0"/>
                <a:sym typeface="Bitter"/>
              </a:rPr>
              <a:t>zip_code / neighborhood_district </a:t>
            </a:r>
            <a:r>
              <a:rPr lang="en-US" sz="2610" spc="56">
                <a:solidFill>
                  <a:srgbClr val="FFFFFF"/>
                </a:solidFill>
                <a:latin typeface="Bitter"/>
                <a:ea typeface="Bitter"/>
                <a:cs typeface="Bitter"/>
                <a:sym typeface="Bitter"/>
              </a:rPr>
              <a:t>– location of request</a:t>
            </a:r>
            <a:br>
              <a:rPr lang="en-US" sz="2610" spc="56">
                <a:solidFill>
                  <a:srgbClr val="FFFFFF"/>
                </a:solidFill>
                <a:latin typeface="Bitter"/>
                <a:ea typeface="Bitter"/>
                <a:cs typeface="Bitter"/>
                <a:sym typeface="Bitter"/>
              </a:rPr>
            </a:br>
            <a:endParaRPr lang="en-US" sz="2610" spc="56">
              <a:solidFill>
                <a:srgbClr val="FFFFFF"/>
              </a:solidFill>
              <a:latin typeface="Bitter"/>
              <a:ea typeface="Bitter"/>
              <a:cs typeface="Bitter"/>
              <a:sym typeface="Bitter"/>
            </a:endParaRPr>
          </a:p>
          <a:p>
            <a:pPr marL="342900" indent="-342900" algn="l">
              <a:lnSpc>
                <a:spcPts val="3286"/>
              </a:lnSpc>
              <a:buFont typeface="Arial" panose="020B0604020202020204" pitchFamily="34" charset="0"/>
              <a:buChar char="•"/>
            </a:pPr>
            <a:r>
              <a:rPr lang="en-US" sz="2610" spc="56">
                <a:solidFill>
                  <a:srgbClr val="FFFFFF"/>
                </a:solidFill>
                <a:latin typeface="Consolas" panose="020B0609020204030204" pitchFamily="49" charset="0"/>
                <a:ea typeface="Bitter"/>
                <a:cs typeface="Consolas" panose="020B0609020204030204" pitchFamily="49" charset="0"/>
                <a:sym typeface="Bitter"/>
              </a:rPr>
              <a:t>case_owner_description </a:t>
            </a:r>
            <a:r>
              <a:rPr lang="en-US" sz="2610" spc="56">
                <a:solidFill>
                  <a:srgbClr val="FFFFFF"/>
                </a:solidFill>
                <a:latin typeface="Bitter"/>
                <a:ea typeface="Bitter"/>
                <a:cs typeface="Bitter"/>
                <a:sym typeface="Bitter"/>
              </a:rPr>
              <a:t>– text description (used for text mining)</a:t>
            </a:r>
          </a:p>
        </p:txBody>
      </p:sp>
      <p:pic>
        <p:nvPicPr>
          <p:cNvPr id="8" name="Picture 7">
            <a:extLst>
              <a:ext uri="{FF2B5EF4-FFF2-40B4-BE49-F238E27FC236}">
                <a16:creationId xmlns:a16="http://schemas.microsoft.com/office/drawing/2014/main" id="{C1C30CCB-7F00-B531-145A-C1B7A1482F01}"/>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49000"/>
                    </a14:imgEffect>
                  </a14:imgLayer>
                </a14:imgProps>
              </a:ext>
              <a:ext uri="{28A0092B-C50C-407E-A947-70E740481C1C}">
                <a14:useLocalDpi xmlns:a14="http://schemas.microsoft.com/office/drawing/2010/main" val="0"/>
              </a:ext>
            </a:extLst>
          </a:blip>
          <a:srcRect l="5835" t="717" r="29714" b="7754"/>
          <a:stretch>
            <a:fillRect/>
          </a:stretch>
        </p:blipFill>
        <p:spPr>
          <a:xfrm>
            <a:off x="-63498" y="-150398"/>
            <a:ext cx="18516600" cy="1498278"/>
          </a:xfrm>
          <a:prstGeom prst="rect">
            <a:avLst/>
          </a:prstGeom>
          <a:ln>
            <a:solidFill>
              <a:srgbClr val="003C5F"/>
            </a:solidFill>
          </a:ln>
        </p:spPr>
      </p:pic>
      <p:sp>
        <p:nvSpPr>
          <p:cNvPr id="9" name="Rectangle 8">
            <a:extLst>
              <a:ext uri="{FF2B5EF4-FFF2-40B4-BE49-F238E27FC236}">
                <a16:creationId xmlns:a16="http://schemas.microsoft.com/office/drawing/2014/main" id="{C71D4D76-5527-7941-F8F1-F471B81F11BE}"/>
              </a:ext>
            </a:extLst>
          </p:cNvPr>
          <p:cNvSpPr/>
          <p:nvPr/>
        </p:nvSpPr>
        <p:spPr>
          <a:xfrm>
            <a:off x="7489959" y="0"/>
            <a:ext cx="10823441" cy="1056825"/>
          </a:xfrm>
          <a:prstGeom prst="rect">
            <a:avLst/>
          </a:prstGeom>
          <a:solidFill>
            <a:srgbClr val="003C5F"/>
          </a:solidFill>
          <a:ln>
            <a:solidFill>
              <a:srgbClr val="003C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3">
            <a:extLst>
              <a:ext uri="{FF2B5EF4-FFF2-40B4-BE49-F238E27FC236}">
                <a16:creationId xmlns:a16="http://schemas.microsoft.com/office/drawing/2014/main" id="{C523946F-08A0-673D-A9DF-2F8C87F7C38C}"/>
              </a:ext>
            </a:extLst>
          </p:cNvPr>
          <p:cNvSpPr txBox="1"/>
          <p:nvPr/>
        </p:nvSpPr>
        <p:spPr>
          <a:xfrm>
            <a:off x="1016000" y="2354589"/>
            <a:ext cx="15112735" cy="1114536"/>
          </a:xfrm>
          <a:prstGeom prst="rect">
            <a:avLst/>
          </a:prstGeom>
        </p:spPr>
        <p:txBody>
          <a:bodyPr wrap="square" lIns="0" tIns="0" rIns="0" bIns="0" rtlCol="0" anchor="t">
            <a:spAutoFit/>
          </a:bodyPr>
          <a:lstStyle/>
          <a:p>
            <a:pPr algn="l">
              <a:lnSpc>
                <a:spcPts val="10338"/>
              </a:lnSpc>
            </a:pPr>
            <a:r>
              <a:rPr lang="en-US" sz="4400">
                <a:solidFill>
                  <a:srgbClr val="FFFFFF"/>
                </a:solidFill>
                <a:latin typeface="Handelson Six"/>
                <a:ea typeface="Handelson Six"/>
                <a:cs typeface="Handelson Six"/>
                <a:sym typeface="Handelson Six"/>
              </a:rPr>
              <a:t>Public Service Requests Dataset</a:t>
            </a:r>
          </a:p>
        </p:txBody>
      </p:sp>
    </p:spTree>
  </p:cSld>
  <p:clrMapOvr>
    <a:masterClrMapping/>
  </p:clrMapOvr>
  <mc:AlternateContent xmlns:mc="http://schemas.openxmlformats.org/markup-compatibility/2006">
    <mc:Choice xmlns:p14="http://schemas.microsoft.com/office/powerpoint/2010/main" Requires="p14">
      <p:transition spd="slow" p14:dur="2000" advTm="41608"/>
    </mc:Choice>
    <mc:Fallback>
      <p:transition spd="slow" advTm="4160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6C6F8-74DC-8FA0-1DA7-E4DBC84A894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2DFA42C-2DFD-9339-8F39-D717D6FBF88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dpi="0" rotWithShape="1">
            <a:blip r:embed="rId3">
              <a:alphaModFix/>
              <a:extLst>
                <a:ext uri="{BEBA8EAE-BF5A-486C-A8C5-ECC9F3942E4B}">
                  <a14:imgProps xmlns:a14="http://schemas.microsoft.com/office/drawing/2010/main">
                    <a14:imgLayer r:embed="rId4">
                      <a14:imgEffect>
                        <a14:brightnessContrast contrast="13000"/>
                      </a14:imgEffect>
                    </a14:imgLayer>
                  </a14:imgProps>
                </a:ext>
              </a:extLst>
            </a:blip>
            <a:srcRect/>
            <a:stretch>
              <a:fillRect l="-6011" t="-516" r="-2323" b="-27800"/>
            </a:stretch>
          </a:blipFill>
        </p:spPr>
        <p:txBody>
          <a:bodyPr/>
          <a:lstStyle/>
          <a:p>
            <a:endParaRPr lang="en-US"/>
          </a:p>
        </p:txBody>
      </p:sp>
      <p:sp>
        <p:nvSpPr>
          <p:cNvPr id="3" name="TextBox 3">
            <a:extLst>
              <a:ext uri="{FF2B5EF4-FFF2-40B4-BE49-F238E27FC236}">
                <a16:creationId xmlns:a16="http://schemas.microsoft.com/office/drawing/2014/main" id="{2C29365E-2652-B055-8129-3F83F2B6F918}"/>
              </a:ext>
            </a:extLst>
          </p:cNvPr>
          <p:cNvSpPr txBox="1"/>
          <p:nvPr/>
        </p:nvSpPr>
        <p:spPr>
          <a:xfrm>
            <a:off x="1041400" y="1596855"/>
            <a:ext cx="15112735" cy="1320874"/>
          </a:xfrm>
          <a:prstGeom prst="rect">
            <a:avLst/>
          </a:prstGeom>
        </p:spPr>
        <p:txBody>
          <a:bodyPr wrap="square" lIns="0" tIns="0" rIns="0" bIns="0" rtlCol="0" anchor="t">
            <a:spAutoFit/>
          </a:bodyPr>
          <a:lstStyle/>
          <a:p>
            <a:pPr>
              <a:lnSpc>
                <a:spcPts val="10338"/>
              </a:lnSpc>
            </a:pPr>
            <a:r>
              <a:rPr lang="en-US" sz="8761">
                <a:solidFill>
                  <a:srgbClr val="FFFFFF"/>
                </a:solidFill>
                <a:latin typeface="Handelson Six"/>
                <a:ea typeface="Handelson Six"/>
                <a:cs typeface="Handelson Six"/>
                <a:sym typeface="Handelson Six"/>
              </a:rPr>
              <a:t>Dataset: Property Crime</a:t>
            </a:r>
          </a:p>
        </p:txBody>
      </p:sp>
      <p:sp>
        <p:nvSpPr>
          <p:cNvPr id="4" name="TextBox 4">
            <a:extLst>
              <a:ext uri="{FF2B5EF4-FFF2-40B4-BE49-F238E27FC236}">
                <a16:creationId xmlns:a16="http://schemas.microsoft.com/office/drawing/2014/main" id="{49279A40-1E2B-20A7-AC40-3C0AE855D426}"/>
              </a:ext>
            </a:extLst>
          </p:cNvPr>
          <p:cNvSpPr txBox="1"/>
          <p:nvPr/>
        </p:nvSpPr>
        <p:spPr>
          <a:xfrm>
            <a:off x="947670" y="4789038"/>
            <a:ext cx="8043930" cy="3368423"/>
          </a:xfrm>
          <a:prstGeom prst="rect">
            <a:avLst/>
          </a:prstGeom>
        </p:spPr>
        <p:txBody>
          <a:bodyPr wrap="square" lIns="0" tIns="0" rIns="0" bIns="0" rtlCol="0" anchor="t">
            <a:spAutoFit/>
          </a:bodyPr>
          <a:lstStyle/>
          <a:p>
            <a:pPr marL="342900" indent="-342900" algn="l">
              <a:lnSpc>
                <a:spcPts val="3286"/>
              </a:lnSpc>
              <a:buFont typeface="Arial" panose="020B0604020202020204" pitchFamily="34" charset="0"/>
              <a:buChar char="•"/>
            </a:pPr>
            <a:r>
              <a:rPr lang="en-US" sz="2610" spc="56">
                <a:solidFill>
                  <a:srgbClr val="FFFFFF"/>
                </a:solidFill>
                <a:latin typeface="Bitter"/>
                <a:ea typeface="Bitter"/>
                <a:cs typeface="Bitter"/>
                <a:sym typeface="Bitter"/>
              </a:rPr>
              <a:t>Source: Florida Department of Law Enforcement (FDLE)</a:t>
            </a:r>
          </a:p>
          <a:p>
            <a:pPr marL="342900" indent="-342900" algn="l">
              <a:lnSpc>
                <a:spcPts val="3286"/>
              </a:lnSpc>
              <a:buFont typeface="Arial" panose="020B0604020202020204" pitchFamily="34" charset="0"/>
              <a:buChar char="•"/>
            </a:pPr>
            <a:endParaRPr lang="en-US" sz="2610" spc="56">
              <a:solidFill>
                <a:srgbClr val="FFFFFF"/>
              </a:solidFill>
              <a:latin typeface="Bitter"/>
              <a:ea typeface="Bitter"/>
              <a:cs typeface="Bitter"/>
              <a:sym typeface="Bitter"/>
            </a:endParaRPr>
          </a:p>
          <a:p>
            <a:pPr marL="342900" indent="-342900" algn="l">
              <a:lnSpc>
                <a:spcPts val="3286"/>
              </a:lnSpc>
              <a:buFont typeface="Arial" panose="020B0604020202020204" pitchFamily="34" charset="0"/>
              <a:buChar char="•"/>
            </a:pPr>
            <a:r>
              <a:rPr lang="en-US" sz="2610" spc="56">
                <a:solidFill>
                  <a:srgbClr val="FFFFFF"/>
                </a:solidFill>
                <a:latin typeface="Bitter"/>
                <a:ea typeface="Bitter"/>
                <a:cs typeface="Bitter"/>
                <a:sym typeface="Bitter"/>
              </a:rPr>
              <a:t>Years: 2017 – 2019</a:t>
            </a:r>
          </a:p>
          <a:p>
            <a:pPr marL="342900" indent="-342900" algn="l">
              <a:lnSpc>
                <a:spcPts val="3286"/>
              </a:lnSpc>
              <a:buFont typeface="Arial" panose="020B0604020202020204" pitchFamily="34" charset="0"/>
              <a:buChar char="•"/>
            </a:pPr>
            <a:endParaRPr lang="en-US" sz="2610" spc="56">
              <a:solidFill>
                <a:srgbClr val="FFFFFF"/>
              </a:solidFill>
              <a:latin typeface="Bitter"/>
              <a:ea typeface="Bitter"/>
              <a:cs typeface="Bitter"/>
              <a:sym typeface="Bitter"/>
            </a:endParaRPr>
          </a:p>
          <a:p>
            <a:pPr marL="342900" indent="-342900" algn="l">
              <a:lnSpc>
                <a:spcPts val="3286"/>
              </a:lnSpc>
              <a:buFont typeface="Arial" panose="020B0604020202020204" pitchFamily="34" charset="0"/>
              <a:buChar char="•"/>
            </a:pPr>
            <a:r>
              <a:rPr lang="en-US" sz="2610" spc="56">
                <a:solidFill>
                  <a:srgbClr val="FFFFFF"/>
                </a:solidFill>
                <a:latin typeface="Bitter"/>
                <a:ea typeface="Bitter"/>
                <a:cs typeface="Bitter"/>
                <a:sym typeface="Bitter"/>
              </a:rPr>
              <a:t>Level: County-level (Miami-Dade County)</a:t>
            </a:r>
            <a:br>
              <a:rPr lang="en-US" sz="2610" spc="56">
                <a:solidFill>
                  <a:srgbClr val="FFFFFF"/>
                </a:solidFill>
                <a:latin typeface="Bitter"/>
                <a:ea typeface="Bitter"/>
                <a:cs typeface="Bitter"/>
                <a:sym typeface="Bitter"/>
              </a:rPr>
            </a:br>
            <a:endParaRPr lang="en-US" sz="2610" spc="56">
              <a:solidFill>
                <a:srgbClr val="FFFFFF"/>
              </a:solidFill>
              <a:latin typeface="Bitter"/>
              <a:ea typeface="Bitter"/>
              <a:cs typeface="Bitter"/>
              <a:sym typeface="Bitter"/>
            </a:endParaRPr>
          </a:p>
          <a:p>
            <a:pPr marL="342900" indent="-342900" algn="l">
              <a:lnSpc>
                <a:spcPts val="3286"/>
              </a:lnSpc>
              <a:buFont typeface="Arial" panose="020B0604020202020204" pitchFamily="34" charset="0"/>
              <a:buChar char="•"/>
            </a:pPr>
            <a:r>
              <a:rPr lang="en-US" sz="2610" spc="56">
                <a:solidFill>
                  <a:srgbClr val="FFFFFF"/>
                </a:solidFill>
                <a:latin typeface="Bitter"/>
                <a:ea typeface="Bitter"/>
                <a:cs typeface="Bitter"/>
                <a:sym typeface="Bitter"/>
              </a:rPr>
              <a:t>Type: Reported property crime incidents</a:t>
            </a:r>
          </a:p>
        </p:txBody>
      </p:sp>
      <p:sp>
        <p:nvSpPr>
          <p:cNvPr id="5" name="TextBox 5">
            <a:extLst>
              <a:ext uri="{FF2B5EF4-FFF2-40B4-BE49-F238E27FC236}">
                <a16:creationId xmlns:a16="http://schemas.microsoft.com/office/drawing/2014/main" id="{21F1EE6F-2125-D6F2-B97B-7356823CCE55}"/>
              </a:ext>
            </a:extLst>
          </p:cNvPr>
          <p:cNvSpPr txBox="1"/>
          <p:nvPr/>
        </p:nvSpPr>
        <p:spPr>
          <a:xfrm>
            <a:off x="9939270" y="3154961"/>
            <a:ext cx="6651759" cy="1159613"/>
          </a:xfrm>
          <a:prstGeom prst="rect">
            <a:avLst/>
          </a:prstGeom>
        </p:spPr>
        <p:txBody>
          <a:bodyPr lIns="0" tIns="0" rIns="0" bIns="0" rtlCol="0" anchor="t">
            <a:spAutoFit/>
          </a:bodyPr>
          <a:lstStyle/>
          <a:p>
            <a:pPr algn="l">
              <a:lnSpc>
                <a:spcPts val="10338"/>
              </a:lnSpc>
            </a:pPr>
            <a:r>
              <a:rPr lang="en-US" sz="4800">
                <a:solidFill>
                  <a:srgbClr val="FFFFFF"/>
                </a:solidFill>
                <a:latin typeface="Handelson Six"/>
                <a:ea typeface="Handelson Six"/>
                <a:cs typeface="Handelson Six"/>
                <a:sym typeface="Handelson Six"/>
              </a:rPr>
              <a:t>Key Variables:</a:t>
            </a:r>
          </a:p>
        </p:txBody>
      </p:sp>
      <p:sp>
        <p:nvSpPr>
          <p:cNvPr id="6" name="TextBox 6">
            <a:extLst>
              <a:ext uri="{FF2B5EF4-FFF2-40B4-BE49-F238E27FC236}">
                <a16:creationId xmlns:a16="http://schemas.microsoft.com/office/drawing/2014/main" id="{3A2E7278-E222-F7B0-F557-B4F392ADCB6F}"/>
              </a:ext>
            </a:extLst>
          </p:cNvPr>
          <p:cNvSpPr txBox="1"/>
          <p:nvPr/>
        </p:nvSpPr>
        <p:spPr>
          <a:xfrm>
            <a:off x="9939270" y="4712569"/>
            <a:ext cx="7737610" cy="3367845"/>
          </a:xfrm>
          <a:prstGeom prst="rect">
            <a:avLst/>
          </a:prstGeom>
        </p:spPr>
        <p:txBody>
          <a:bodyPr wrap="square" lIns="0" tIns="0" rIns="0" bIns="0" rtlCol="0" anchor="t">
            <a:spAutoFit/>
          </a:bodyPr>
          <a:lstStyle/>
          <a:p>
            <a:pPr marL="342900" indent="-342900">
              <a:lnSpc>
                <a:spcPts val="3286"/>
              </a:lnSpc>
              <a:buFont typeface="Arial" panose="020B0604020202020204" pitchFamily="34" charset="0"/>
              <a:buChar char="•"/>
            </a:pPr>
            <a:r>
              <a:rPr lang="en-US" sz="2610" spc="56">
                <a:solidFill>
                  <a:srgbClr val="FFFFFF"/>
                </a:solidFill>
                <a:latin typeface="Consolas" panose="020B0609020204030204" pitchFamily="49" charset="0"/>
                <a:ea typeface="Bitter"/>
                <a:cs typeface="Consolas" panose="020B0609020204030204" pitchFamily="49" charset="0"/>
                <a:sym typeface="Bitter"/>
              </a:rPr>
              <a:t>Burglary</a:t>
            </a:r>
            <a:r>
              <a:rPr lang="en-US" sz="2610" spc="56">
                <a:solidFill>
                  <a:srgbClr val="FFFFFF"/>
                </a:solidFill>
                <a:latin typeface="Bitter"/>
                <a:ea typeface="Bitter"/>
                <a:cs typeface="Bitter"/>
                <a:sym typeface="Bitter"/>
              </a:rPr>
              <a:t> – unlawful entry offense</a:t>
            </a:r>
            <a:endParaRPr lang="en-US" sz="2610" spc="56">
              <a:solidFill>
                <a:srgbClr val="FFFFFF"/>
              </a:solidFill>
              <a:latin typeface="Consolas" panose="020B0609020204030204" pitchFamily="49" charset="0"/>
              <a:ea typeface="Bitter"/>
              <a:cs typeface="Consolas" panose="020B0609020204030204" pitchFamily="49" charset="0"/>
              <a:sym typeface="Bitter"/>
            </a:endParaRPr>
          </a:p>
          <a:p>
            <a:pPr marL="342900" indent="-342900" algn="l">
              <a:lnSpc>
                <a:spcPts val="3286"/>
              </a:lnSpc>
              <a:buFont typeface="Arial" panose="020B0604020202020204" pitchFamily="34" charset="0"/>
              <a:buChar char="•"/>
            </a:pPr>
            <a:endParaRPr lang="en-US" sz="2610" spc="56">
              <a:solidFill>
                <a:srgbClr val="FFFFFF"/>
              </a:solidFill>
              <a:latin typeface="Consolas" panose="020B0609020204030204" pitchFamily="49" charset="0"/>
              <a:ea typeface="Bitter"/>
              <a:cs typeface="Consolas" panose="020B0609020204030204" pitchFamily="49" charset="0"/>
              <a:sym typeface="Bitter"/>
            </a:endParaRPr>
          </a:p>
          <a:p>
            <a:pPr marL="342900" indent="-342900">
              <a:lnSpc>
                <a:spcPts val="3286"/>
              </a:lnSpc>
              <a:buFont typeface="Arial" panose="020B0604020202020204" pitchFamily="34" charset="0"/>
              <a:buChar char="•"/>
            </a:pPr>
            <a:r>
              <a:rPr lang="en-US" sz="2610" spc="56">
                <a:solidFill>
                  <a:srgbClr val="FFFFFF"/>
                </a:solidFill>
                <a:latin typeface="Consolas" panose="020B0609020204030204" pitchFamily="49" charset="0"/>
                <a:ea typeface="Bitter"/>
                <a:cs typeface="Consolas" panose="020B0609020204030204" pitchFamily="49" charset="0"/>
                <a:sym typeface="Bitter"/>
              </a:rPr>
              <a:t>Larceny</a:t>
            </a:r>
            <a:r>
              <a:rPr lang="en-US" sz="2610" spc="56">
                <a:solidFill>
                  <a:srgbClr val="FFFFFF"/>
                </a:solidFill>
                <a:latin typeface="Bitter"/>
                <a:ea typeface="Bitter"/>
                <a:cs typeface="Bitter"/>
                <a:sym typeface="Bitter"/>
              </a:rPr>
              <a:t> – theft without force</a:t>
            </a:r>
            <a:endParaRPr lang="en-US" sz="2610" spc="56">
              <a:solidFill>
                <a:srgbClr val="FFFFFF"/>
              </a:solidFill>
              <a:latin typeface="Consolas" panose="020B0609020204030204" pitchFamily="49" charset="0"/>
              <a:ea typeface="Bitter"/>
              <a:cs typeface="Consolas" panose="020B0609020204030204" pitchFamily="49" charset="0"/>
              <a:sym typeface="Bitter"/>
            </a:endParaRPr>
          </a:p>
          <a:p>
            <a:pPr marL="342900" indent="-342900" algn="l">
              <a:lnSpc>
                <a:spcPts val="3286"/>
              </a:lnSpc>
              <a:buFont typeface="Arial" panose="020B0604020202020204" pitchFamily="34" charset="0"/>
              <a:buChar char="•"/>
            </a:pPr>
            <a:endParaRPr lang="en-US" sz="2610" spc="56">
              <a:solidFill>
                <a:srgbClr val="FFFFFF"/>
              </a:solidFill>
              <a:latin typeface="Consolas" panose="020B0609020204030204" pitchFamily="49" charset="0"/>
              <a:ea typeface="Bitter"/>
              <a:cs typeface="Consolas" panose="020B0609020204030204" pitchFamily="49" charset="0"/>
              <a:sym typeface="Bitter"/>
            </a:endParaRPr>
          </a:p>
          <a:p>
            <a:pPr marL="342900" indent="-342900">
              <a:lnSpc>
                <a:spcPts val="3286"/>
              </a:lnSpc>
              <a:buFont typeface="Arial" panose="020B0604020202020204" pitchFamily="34" charset="0"/>
              <a:buChar char="•"/>
            </a:pPr>
            <a:r>
              <a:rPr lang="en-US" sz="2610" spc="56">
                <a:solidFill>
                  <a:srgbClr val="FFFFFF"/>
                </a:solidFill>
                <a:latin typeface="Consolas" panose="020B0609020204030204" pitchFamily="49" charset="0"/>
                <a:ea typeface="Bitter"/>
                <a:cs typeface="Consolas" panose="020B0609020204030204" pitchFamily="49" charset="0"/>
                <a:sym typeface="Bitter"/>
              </a:rPr>
              <a:t>Motor Vehicle Theft</a:t>
            </a:r>
            <a:r>
              <a:rPr lang="en-US" sz="2610" spc="56">
                <a:solidFill>
                  <a:srgbClr val="FFFFFF"/>
                </a:solidFill>
                <a:latin typeface="Bitter"/>
                <a:ea typeface="Bitter"/>
                <a:cs typeface="Bitter"/>
                <a:sym typeface="Bitter"/>
              </a:rPr>
              <a:t> – stolen vehicles</a:t>
            </a:r>
            <a:endParaRPr lang="en-US" sz="2610" spc="56">
              <a:solidFill>
                <a:srgbClr val="FFFFFF"/>
              </a:solidFill>
              <a:latin typeface="Consolas" panose="020B0609020204030204" pitchFamily="49" charset="0"/>
              <a:ea typeface="Bitter"/>
              <a:cs typeface="Consolas" panose="020B0609020204030204" pitchFamily="49" charset="0"/>
              <a:sym typeface="Bitter"/>
            </a:endParaRPr>
          </a:p>
          <a:p>
            <a:pPr marL="342900" indent="-342900" algn="l">
              <a:lnSpc>
                <a:spcPts val="3286"/>
              </a:lnSpc>
              <a:buFont typeface="Arial" panose="020B0604020202020204" pitchFamily="34" charset="0"/>
              <a:buChar char="•"/>
            </a:pPr>
            <a:endParaRPr lang="en-US" sz="2610" spc="56">
              <a:solidFill>
                <a:srgbClr val="FFFFFF"/>
              </a:solidFill>
              <a:latin typeface="Consolas" panose="020B0609020204030204" pitchFamily="49" charset="0"/>
              <a:ea typeface="Bitter"/>
              <a:cs typeface="Consolas" panose="020B0609020204030204" pitchFamily="49" charset="0"/>
              <a:sym typeface="Bitter"/>
            </a:endParaRPr>
          </a:p>
          <a:p>
            <a:pPr marL="342900" indent="-342900" algn="l">
              <a:lnSpc>
                <a:spcPts val="3286"/>
              </a:lnSpc>
              <a:buFont typeface="Arial" panose="020B0604020202020204" pitchFamily="34" charset="0"/>
              <a:buChar char="•"/>
            </a:pPr>
            <a:r>
              <a:rPr lang="en-US" sz="2610" spc="56">
                <a:solidFill>
                  <a:srgbClr val="FFFFFF"/>
                </a:solidFill>
                <a:latin typeface="Consolas" panose="020B0609020204030204" pitchFamily="49" charset="0"/>
                <a:ea typeface="Bitter"/>
                <a:cs typeface="Consolas" panose="020B0609020204030204" pitchFamily="49" charset="0"/>
                <a:sym typeface="Bitter"/>
              </a:rPr>
              <a:t>Total Property Crime </a:t>
            </a:r>
            <a:r>
              <a:rPr lang="en-US" sz="2610" spc="56">
                <a:solidFill>
                  <a:srgbClr val="FFFFFF"/>
                </a:solidFill>
                <a:latin typeface="Bitter"/>
                <a:ea typeface="Bitter"/>
                <a:cs typeface="Bitter"/>
                <a:sym typeface="Bitter"/>
              </a:rPr>
              <a:t>– total reported incidents</a:t>
            </a:r>
            <a:endParaRPr lang="en-US" sz="2610" spc="56">
              <a:solidFill>
                <a:srgbClr val="FFFFFF"/>
              </a:solidFill>
              <a:latin typeface="Consolas" panose="020B0609020204030204" pitchFamily="49" charset="0"/>
              <a:ea typeface="Bitter"/>
              <a:cs typeface="Consolas" panose="020B0609020204030204" pitchFamily="49" charset="0"/>
              <a:sym typeface="Bitter"/>
            </a:endParaRPr>
          </a:p>
        </p:txBody>
      </p:sp>
      <p:pic>
        <p:nvPicPr>
          <p:cNvPr id="12" name="Picture 11">
            <a:extLst>
              <a:ext uri="{FF2B5EF4-FFF2-40B4-BE49-F238E27FC236}">
                <a16:creationId xmlns:a16="http://schemas.microsoft.com/office/drawing/2014/main" id="{53D2F795-DDE3-9580-9F74-5DAB755583A9}"/>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33000"/>
                    </a14:imgEffect>
                  </a14:imgLayer>
                </a14:imgProps>
              </a:ext>
              <a:ext uri="{28A0092B-C50C-407E-A947-70E740481C1C}">
                <a14:useLocalDpi xmlns:a14="http://schemas.microsoft.com/office/drawing/2010/main" val="0"/>
              </a:ext>
            </a:extLst>
          </a:blip>
          <a:srcRect r="6186" b="17083"/>
          <a:stretch>
            <a:fillRect/>
          </a:stretch>
        </p:blipFill>
        <p:spPr>
          <a:xfrm>
            <a:off x="-101600" y="-12700"/>
            <a:ext cx="18491200" cy="1372323"/>
          </a:xfrm>
          <a:prstGeom prst="rect">
            <a:avLst/>
          </a:prstGeom>
        </p:spPr>
      </p:pic>
      <p:sp>
        <p:nvSpPr>
          <p:cNvPr id="13" name="TextBox 3">
            <a:extLst>
              <a:ext uri="{FF2B5EF4-FFF2-40B4-BE49-F238E27FC236}">
                <a16:creationId xmlns:a16="http://schemas.microsoft.com/office/drawing/2014/main" id="{698DF99D-721F-852C-CE4E-66B7287AEC64}"/>
              </a:ext>
            </a:extLst>
          </p:cNvPr>
          <p:cNvSpPr txBox="1"/>
          <p:nvPr/>
        </p:nvSpPr>
        <p:spPr>
          <a:xfrm>
            <a:off x="1016000" y="2354589"/>
            <a:ext cx="15112735" cy="1114536"/>
          </a:xfrm>
          <a:prstGeom prst="rect">
            <a:avLst/>
          </a:prstGeom>
        </p:spPr>
        <p:txBody>
          <a:bodyPr wrap="square" lIns="0" tIns="0" rIns="0" bIns="0" rtlCol="0" anchor="t">
            <a:spAutoFit/>
          </a:bodyPr>
          <a:lstStyle/>
          <a:p>
            <a:pPr algn="l">
              <a:lnSpc>
                <a:spcPts val="10338"/>
              </a:lnSpc>
            </a:pPr>
            <a:r>
              <a:rPr lang="en-US" sz="4400">
                <a:solidFill>
                  <a:srgbClr val="FFFFFF"/>
                </a:solidFill>
                <a:latin typeface="Handelson Six"/>
                <a:ea typeface="Handelson Six"/>
                <a:cs typeface="Handelson Six"/>
                <a:sym typeface="Handelson Six"/>
              </a:rPr>
              <a:t>Official Crime Statistics Dataset</a:t>
            </a:r>
          </a:p>
        </p:txBody>
      </p:sp>
    </p:spTree>
    <p:extLst>
      <p:ext uri="{BB962C8B-B14F-4D97-AF65-F5344CB8AC3E}">
        <p14:creationId xmlns:p14="http://schemas.microsoft.com/office/powerpoint/2010/main" val="3996027138"/>
      </p:ext>
    </p:extLst>
  </p:cSld>
  <p:clrMapOvr>
    <a:masterClrMapping/>
  </p:clrMapOvr>
  <mc:AlternateContent xmlns:mc="http://schemas.openxmlformats.org/markup-compatibility/2006">
    <mc:Choice xmlns:p14="http://schemas.microsoft.com/office/powerpoint/2010/main" Requires="p14">
      <p:transition spd="slow" p14:dur="2000" advTm="52801"/>
    </mc:Choice>
    <mc:Fallback>
      <p:transition spd="slow" advTm="5280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sp>
        <p:nvSpPr>
          <p:cNvPr id="7" name="TextBox 7"/>
          <p:cNvSpPr txBox="1"/>
          <p:nvPr/>
        </p:nvSpPr>
        <p:spPr>
          <a:xfrm>
            <a:off x="2590800" y="569288"/>
            <a:ext cx="14180327" cy="2954655"/>
          </a:xfrm>
          <a:prstGeom prst="rect">
            <a:avLst/>
          </a:prstGeom>
        </p:spPr>
        <p:txBody>
          <a:bodyPr wrap="square" lIns="0" tIns="0" rIns="0" bIns="0" rtlCol="0" anchor="t">
            <a:spAutoFit/>
          </a:bodyPr>
          <a:lstStyle/>
          <a:p>
            <a:pPr algn="ctr"/>
            <a:r>
              <a:rPr lang="en-US" sz="9600" dirty="0">
                <a:solidFill>
                  <a:srgbClr val="FFFFFF"/>
                </a:solidFill>
                <a:latin typeface="Handelson Six"/>
                <a:ea typeface="Handelson Six"/>
                <a:cs typeface="Handelson Six"/>
                <a:sym typeface="Handelson Six"/>
              </a:rPr>
              <a:t>methodology &amp; Analytical Approach</a:t>
            </a:r>
          </a:p>
        </p:txBody>
      </p:sp>
      <p:sp>
        <p:nvSpPr>
          <p:cNvPr id="8" name="Freeform 8"/>
          <p:cNvSpPr/>
          <p:nvPr/>
        </p:nvSpPr>
        <p:spPr>
          <a:xfrm rot="1280981">
            <a:off x="5930995" y="-175468"/>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rot="-615738">
            <a:off x="-678647" y="1835410"/>
            <a:ext cx="4418854" cy="4330477"/>
          </a:xfrm>
          <a:custGeom>
            <a:avLst/>
            <a:gdLst/>
            <a:ahLst/>
            <a:cxnLst/>
            <a:rect l="l" t="t" r="r" b="b"/>
            <a:pathLst>
              <a:path w="4418854" h="4330477">
                <a:moveTo>
                  <a:pt x="0" y="0"/>
                </a:moveTo>
                <a:lnTo>
                  <a:pt x="4418855" y="0"/>
                </a:lnTo>
                <a:lnTo>
                  <a:pt x="4418855" y="4330477"/>
                </a:lnTo>
                <a:lnTo>
                  <a:pt x="0" y="433047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rot="1016425">
            <a:off x="182987" y="4338983"/>
            <a:ext cx="4418854" cy="4330477"/>
          </a:xfrm>
          <a:custGeom>
            <a:avLst/>
            <a:gdLst/>
            <a:ahLst/>
            <a:cxnLst/>
            <a:rect l="l" t="t" r="r" b="b"/>
            <a:pathLst>
              <a:path w="4418854" h="4330477">
                <a:moveTo>
                  <a:pt x="0" y="0"/>
                </a:moveTo>
                <a:lnTo>
                  <a:pt x="4418854" y="0"/>
                </a:lnTo>
                <a:lnTo>
                  <a:pt x="4418854" y="4330477"/>
                </a:lnTo>
                <a:lnTo>
                  <a:pt x="0" y="433047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rot="-1494546">
            <a:off x="868341" y="3622719"/>
            <a:ext cx="463594" cy="755860"/>
          </a:xfrm>
          <a:custGeom>
            <a:avLst/>
            <a:gdLst/>
            <a:ahLst/>
            <a:cxnLst/>
            <a:rect l="l" t="t" r="r" b="b"/>
            <a:pathLst>
              <a:path w="463594" h="755860">
                <a:moveTo>
                  <a:pt x="0" y="0"/>
                </a:moveTo>
                <a:lnTo>
                  <a:pt x="463593" y="0"/>
                </a:lnTo>
                <a:lnTo>
                  <a:pt x="463593" y="755860"/>
                </a:lnTo>
                <a:lnTo>
                  <a:pt x="0" y="75586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Freeform 12"/>
          <p:cNvSpPr/>
          <p:nvPr/>
        </p:nvSpPr>
        <p:spPr>
          <a:xfrm rot="5864118">
            <a:off x="615306" y="4670218"/>
            <a:ext cx="3311761" cy="3892286"/>
          </a:xfrm>
          <a:custGeom>
            <a:avLst/>
            <a:gdLst/>
            <a:ahLst/>
            <a:cxnLst/>
            <a:rect l="l" t="t" r="r" b="b"/>
            <a:pathLst>
              <a:path w="3311761" h="3892286">
                <a:moveTo>
                  <a:pt x="0" y="0"/>
                </a:moveTo>
                <a:lnTo>
                  <a:pt x="3311760" y="0"/>
                </a:lnTo>
                <a:lnTo>
                  <a:pt x="3311760" y="3892286"/>
                </a:lnTo>
                <a:lnTo>
                  <a:pt x="0" y="389228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4" name="TextBox 4">
            <a:extLst>
              <a:ext uri="{FF2B5EF4-FFF2-40B4-BE49-F238E27FC236}">
                <a16:creationId xmlns:a16="http://schemas.microsoft.com/office/drawing/2014/main" id="{182DCD26-9B45-686B-BCBD-7F058384884E}"/>
              </a:ext>
            </a:extLst>
          </p:cNvPr>
          <p:cNvSpPr txBox="1"/>
          <p:nvPr/>
        </p:nvSpPr>
        <p:spPr>
          <a:xfrm>
            <a:off x="5743249" y="3789160"/>
            <a:ext cx="12788017" cy="5818516"/>
          </a:xfrm>
          <a:prstGeom prst="rect">
            <a:avLst/>
          </a:prstGeom>
        </p:spPr>
        <p:txBody>
          <a:bodyPr wrap="square" lIns="0" tIns="0" rIns="0" bIns="0" rtlCol="0" anchor="t">
            <a:spAutoFit/>
          </a:bodyPr>
          <a:lstStyle/>
          <a:p>
            <a:pPr>
              <a:lnSpc>
                <a:spcPts val="3814"/>
              </a:lnSpc>
            </a:pPr>
            <a:r>
              <a:rPr lang="en-US" sz="2724" b="1" spc="65" dirty="0">
                <a:solidFill>
                  <a:srgbClr val="FFFFFF"/>
                </a:solidFill>
                <a:latin typeface="Bitter"/>
                <a:ea typeface="Bitter"/>
                <a:cs typeface="Bitter"/>
                <a:sym typeface="Bitter"/>
              </a:rPr>
              <a:t>Exploratory Data Analysis (EDA)</a:t>
            </a:r>
            <a:endParaRPr lang="en-US" sz="2724" spc="65" dirty="0">
              <a:solidFill>
                <a:srgbClr val="FFFFFF"/>
              </a:solidFill>
              <a:latin typeface="Bitter"/>
              <a:ea typeface="Bitter"/>
              <a:cs typeface="Bitter"/>
              <a:sym typeface="Bitter"/>
            </a:endParaRPr>
          </a:p>
          <a:p>
            <a:pPr marL="457200" indent="-457200">
              <a:lnSpc>
                <a:spcPts val="3814"/>
              </a:lnSpc>
              <a:buFont typeface="Arial" panose="020B0604020202020204" pitchFamily="34" charset="0"/>
              <a:buChar char="•"/>
            </a:pPr>
            <a:r>
              <a:rPr lang="en-US" sz="2724" spc="65" dirty="0">
                <a:solidFill>
                  <a:srgbClr val="FFFFFF"/>
                </a:solidFill>
                <a:latin typeface="Bitter"/>
                <a:ea typeface="Bitter"/>
                <a:cs typeface="Bitter"/>
                <a:sym typeface="Bitter"/>
              </a:rPr>
              <a:t>Analyzed distribution of 311 complaints and property crime</a:t>
            </a:r>
          </a:p>
          <a:p>
            <a:pPr marL="457200" indent="-457200">
              <a:lnSpc>
                <a:spcPts val="3814"/>
              </a:lnSpc>
              <a:buFont typeface="Arial" panose="020B0604020202020204" pitchFamily="34" charset="0"/>
              <a:buChar char="•"/>
            </a:pPr>
            <a:r>
              <a:rPr lang="en-US" sz="2724" spc="65" dirty="0">
                <a:solidFill>
                  <a:srgbClr val="FFFFFF"/>
                </a:solidFill>
                <a:latin typeface="Bitter"/>
                <a:ea typeface="Bitter"/>
                <a:cs typeface="Bitter"/>
                <a:sym typeface="Bitter"/>
              </a:rPr>
              <a:t>Identified trends over time (2017–2019)</a:t>
            </a:r>
          </a:p>
          <a:p>
            <a:pPr marL="457200" indent="-457200">
              <a:lnSpc>
                <a:spcPts val="3814"/>
              </a:lnSpc>
              <a:buFont typeface="Arial" panose="020B0604020202020204" pitchFamily="34" charset="0"/>
              <a:buChar char="•"/>
            </a:pPr>
            <a:endParaRPr lang="en-US" sz="2724" spc="65" dirty="0">
              <a:solidFill>
                <a:srgbClr val="FFFFFF"/>
              </a:solidFill>
              <a:latin typeface="Bitter"/>
              <a:ea typeface="Bitter"/>
              <a:cs typeface="Bitter"/>
              <a:sym typeface="Bitter"/>
            </a:endParaRPr>
          </a:p>
          <a:p>
            <a:pPr>
              <a:lnSpc>
                <a:spcPts val="3814"/>
              </a:lnSpc>
            </a:pPr>
            <a:r>
              <a:rPr lang="en-US" sz="2724" b="1" spc="65" dirty="0">
                <a:solidFill>
                  <a:srgbClr val="FFFFFF"/>
                </a:solidFill>
                <a:latin typeface="Bitter"/>
                <a:ea typeface="Bitter"/>
                <a:cs typeface="Bitter"/>
                <a:sym typeface="Bitter"/>
              </a:rPr>
              <a:t>Visualization</a:t>
            </a:r>
            <a:endParaRPr lang="en-US" sz="2724" spc="65" dirty="0">
              <a:solidFill>
                <a:srgbClr val="FFFFFF"/>
              </a:solidFill>
              <a:latin typeface="Bitter"/>
              <a:ea typeface="Bitter"/>
              <a:cs typeface="Bitter"/>
              <a:sym typeface="Bitter"/>
            </a:endParaRPr>
          </a:p>
          <a:p>
            <a:pPr marL="457200" indent="-457200">
              <a:lnSpc>
                <a:spcPts val="3814"/>
              </a:lnSpc>
              <a:buFont typeface="Arial" panose="020B0604020202020204" pitchFamily="34" charset="0"/>
              <a:buChar char="•"/>
            </a:pPr>
            <a:r>
              <a:rPr lang="en-US" sz="2724" spc="65" dirty="0">
                <a:solidFill>
                  <a:srgbClr val="FFFFFF"/>
                </a:solidFill>
                <a:latin typeface="Bitter"/>
                <a:ea typeface="Bitter"/>
                <a:cs typeface="Bitter"/>
                <a:sym typeface="Bitter"/>
              </a:rPr>
              <a:t>Bar charts for most common complaints</a:t>
            </a:r>
          </a:p>
          <a:p>
            <a:pPr marL="457200" indent="-457200">
              <a:lnSpc>
                <a:spcPts val="3814"/>
              </a:lnSpc>
              <a:buFont typeface="Arial" panose="020B0604020202020204" pitchFamily="34" charset="0"/>
              <a:buChar char="•"/>
            </a:pPr>
            <a:r>
              <a:rPr lang="en-US" sz="2724" spc="65" dirty="0">
                <a:solidFill>
                  <a:srgbClr val="FFFFFF"/>
                </a:solidFill>
                <a:latin typeface="Bitter"/>
                <a:ea typeface="Bitter"/>
                <a:cs typeface="Bitter"/>
                <a:sym typeface="Bitter"/>
              </a:rPr>
              <a:t>Time-series analysis of 311 vs. crime trends</a:t>
            </a:r>
          </a:p>
          <a:p>
            <a:pPr marL="457200" indent="-457200">
              <a:lnSpc>
                <a:spcPts val="3814"/>
              </a:lnSpc>
              <a:buFont typeface="Arial" panose="020B0604020202020204" pitchFamily="34" charset="0"/>
              <a:buChar char="•"/>
            </a:pPr>
            <a:r>
              <a:rPr lang="en-US" sz="2724" spc="65" dirty="0">
                <a:solidFill>
                  <a:srgbClr val="FFFFFF"/>
                </a:solidFill>
                <a:latin typeface="Bitter"/>
                <a:ea typeface="Bitter"/>
                <a:cs typeface="Bitter"/>
                <a:sym typeface="Bitter"/>
              </a:rPr>
              <a:t>Comparative analysis between datasets</a:t>
            </a:r>
          </a:p>
          <a:p>
            <a:pPr>
              <a:lnSpc>
                <a:spcPts val="3814"/>
              </a:lnSpc>
            </a:pPr>
            <a:endParaRPr lang="en-US" sz="2724" spc="65" dirty="0">
              <a:solidFill>
                <a:srgbClr val="FFFFFF"/>
              </a:solidFill>
              <a:latin typeface="Bitter"/>
              <a:ea typeface="Bitter"/>
              <a:cs typeface="Bitter"/>
              <a:sym typeface="Bitter"/>
            </a:endParaRPr>
          </a:p>
          <a:p>
            <a:pPr>
              <a:lnSpc>
                <a:spcPts val="3814"/>
              </a:lnSpc>
            </a:pPr>
            <a:r>
              <a:rPr lang="en-US" sz="2724" b="1" spc="65" dirty="0">
                <a:solidFill>
                  <a:srgbClr val="FFFFFF"/>
                </a:solidFill>
                <a:latin typeface="Bitter"/>
                <a:ea typeface="Bitter"/>
                <a:cs typeface="Bitter"/>
                <a:sym typeface="Bitter"/>
              </a:rPr>
              <a:t>Text Mining</a:t>
            </a:r>
          </a:p>
          <a:p>
            <a:pPr marL="457200" indent="-457200">
              <a:lnSpc>
                <a:spcPts val="3814"/>
              </a:lnSpc>
              <a:buFont typeface="Arial" panose="020B0604020202020204" pitchFamily="34" charset="0"/>
              <a:buChar char="•"/>
            </a:pPr>
            <a:r>
              <a:rPr lang="en-US" sz="2724" spc="65" dirty="0">
                <a:solidFill>
                  <a:srgbClr val="FFFFFF"/>
                </a:solidFill>
                <a:latin typeface="Bitter"/>
                <a:ea typeface="Bitter"/>
                <a:cs typeface="Bitter"/>
                <a:sym typeface="Bitter"/>
              </a:rPr>
              <a:t>Word frequency analysis</a:t>
            </a:r>
          </a:p>
          <a:p>
            <a:pPr marL="457200" indent="-457200">
              <a:lnSpc>
                <a:spcPts val="3814"/>
              </a:lnSpc>
              <a:buFont typeface="Arial" panose="020B0604020202020204" pitchFamily="34" charset="0"/>
              <a:buChar char="•"/>
            </a:pPr>
            <a:r>
              <a:rPr lang="en-US" sz="2724" spc="65" dirty="0">
                <a:solidFill>
                  <a:srgbClr val="FFFFFF"/>
                </a:solidFill>
                <a:latin typeface="Bitter"/>
                <a:ea typeface="Bitter"/>
                <a:cs typeface="Bitter"/>
                <a:sym typeface="Bitter"/>
              </a:rPr>
              <a:t>TF-IDF to identify key complaint themes</a:t>
            </a:r>
          </a:p>
        </p:txBody>
      </p:sp>
    </p:spTree>
  </p:cSld>
  <p:clrMapOvr>
    <a:masterClrMapping/>
  </p:clrMapOvr>
  <mc:AlternateContent xmlns:mc="http://schemas.openxmlformats.org/markup-compatibility/2006">
    <mc:Choice xmlns:p14="http://schemas.microsoft.com/office/powerpoint/2010/main" Requires="p14">
      <p:transition spd="slow" p14:dur="2000" advTm="48904"/>
    </mc:Choice>
    <mc:Fallback>
      <p:transition spd="slow" advTm="4890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53BE6-E5BD-9071-04AA-C85D1F69496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BD3CA53-9A97-7532-26F6-E0E34BE76E3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sp>
        <p:nvSpPr>
          <p:cNvPr id="3" name="TextBox 3">
            <a:extLst>
              <a:ext uri="{FF2B5EF4-FFF2-40B4-BE49-F238E27FC236}">
                <a16:creationId xmlns:a16="http://schemas.microsoft.com/office/drawing/2014/main" id="{C50C2786-9E52-63BF-6064-A06807F02DFD}"/>
              </a:ext>
            </a:extLst>
          </p:cNvPr>
          <p:cNvSpPr txBox="1"/>
          <p:nvPr/>
        </p:nvSpPr>
        <p:spPr>
          <a:xfrm>
            <a:off x="4127143" y="1355761"/>
            <a:ext cx="15112735" cy="1320874"/>
          </a:xfrm>
          <a:prstGeom prst="rect">
            <a:avLst/>
          </a:prstGeom>
        </p:spPr>
        <p:txBody>
          <a:bodyPr wrap="square" lIns="0" tIns="0" rIns="0" bIns="0" rtlCol="0" anchor="t">
            <a:spAutoFit/>
          </a:bodyPr>
          <a:lstStyle/>
          <a:p>
            <a:pPr algn="l">
              <a:lnSpc>
                <a:spcPts val="10338"/>
              </a:lnSpc>
            </a:pPr>
            <a:r>
              <a:rPr lang="en-US" sz="8761" dirty="0">
                <a:solidFill>
                  <a:srgbClr val="FFFFFF"/>
                </a:solidFill>
                <a:latin typeface="Handelson Six"/>
                <a:ea typeface="Handelson Six"/>
                <a:cs typeface="Handelson Six"/>
                <a:sym typeface="Handelson Six"/>
              </a:rPr>
              <a:t>Course Curriculum</a:t>
            </a:r>
          </a:p>
        </p:txBody>
      </p:sp>
      <p:sp>
        <p:nvSpPr>
          <p:cNvPr id="6" name="TextBox 6">
            <a:extLst>
              <a:ext uri="{FF2B5EF4-FFF2-40B4-BE49-F238E27FC236}">
                <a16:creationId xmlns:a16="http://schemas.microsoft.com/office/drawing/2014/main" id="{7F2EFF58-DB15-1F5E-824D-1514B85BF4F0}"/>
              </a:ext>
            </a:extLst>
          </p:cNvPr>
          <p:cNvSpPr txBox="1"/>
          <p:nvPr/>
        </p:nvSpPr>
        <p:spPr>
          <a:xfrm>
            <a:off x="4127143" y="4047635"/>
            <a:ext cx="11960952" cy="5094856"/>
          </a:xfrm>
          <a:prstGeom prst="rect">
            <a:avLst/>
          </a:prstGeom>
        </p:spPr>
        <p:txBody>
          <a:bodyPr wrap="square" lIns="0" tIns="0" rIns="0" bIns="0" rtlCol="0" anchor="t">
            <a:spAutoFit/>
          </a:bodyPr>
          <a:lstStyle/>
          <a:p>
            <a:pPr marL="342900" indent="-342900">
              <a:lnSpc>
                <a:spcPts val="3286"/>
              </a:lnSpc>
              <a:buFont typeface="Arial" panose="020B0604020202020204" pitchFamily="34" charset="0"/>
              <a:buChar char="•"/>
            </a:pPr>
            <a:r>
              <a:rPr lang="en-US" sz="3600" spc="56" dirty="0">
                <a:solidFill>
                  <a:srgbClr val="FFFFFF"/>
                </a:solidFill>
                <a:latin typeface="Bitter"/>
                <a:ea typeface="Bitter"/>
                <a:cs typeface="Bitter"/>
                <a:sym typeface="Bitter"/>
              </a:rPr>
              <a:t>Exploratory Data Analysis (EDA)</a:t>
            </a:r>
          </a:p>
          <a:p>
            <a:pPr marL="800100" lvl="1" indent="-342900" algn="l">
              <a:lnSpc>
                <a:spcPts val="3286"/>
              </a:lnSpc>
              <a:buFont typeface="Courier New" panose="020B0604020202020204" pitchFamily="34" charset="0"/>
              <a:buChar char="o"/>
            </a:pPr>
            <a:r>
              <a:rPr lang="en-US" sz="3600" spc="56" dirty="0">
                <a:solidFill>
                  <a:srgbClr val="FFFFFF"/>
                </a:solidFill>
                <a:latin typeface="Bitter"/>
                <a:ea typeface="Bitter"/>
                <a:cs typeface="Bitter"/>
                <a:sym typeface="Bitter"/>
              </a:rPr>
              <a:t>Wk. 2 – Intro to data and Text Mining </a:t>
            </a:r>
            <a:endParaRPr lang="en-US" sz="3600" spc="56" dirty="0">
              <a:solidFill>
                <a:srgbClr val="FFFFFF"/>
              </a:solidFill>
              <a:latin typeface="Bitter"/>
              <a:ea typeface="Bitter"/>
              <a:cs typeface="Bitter"/>
            </a:endParaRPr>
          </a:p>
          <a:p>
            <a:pPr marL="800100" lvl="1" indent="-342900" algn="l">
              <a:lnSpc>
                <a:spcPts val="3286"/>
              </a:lnSpc>
              <a:buFont typeface="Courier New" panose="020B0604020202020204" pitchFamily="34" charset="0"/>
              <a:buChar char="o"/>
            </a:pPr>
            <a:r>
              <a:rPr lang="en-US" sz="3600" spc="56" dirty="0">
                <a:solidFill>
                  <a:srgbClr val="FFFFFF"/>
                </a:solidFill>
                <a:latin typeface="Bitter"/>
                <a:ea typeface="Bitter"/>
                <a:cs typeface="Bitter"/>
                <a:sym typeface="Bitter"/>
              </a:rPr>
              <a:t>Ch. 12 – Pictures Versus Numbers </a:t>
            </a:r>
            <a:endParaRPr lang="en-US" sz="3600" spc="56" dirty="0">
              <a:solidFill>
                <a:srgbClr val="FFFFFF"/>
              </a:solidFill>
              <a:latin typeface="Bitter"/>
              <a:ea typeface="Bitter"/>
              <a:cs typeface="Bitter"/>
            </a:endParaRPr>
          </a:p>
          <a:p>
            <a:pPr marL="342900" indent="-342900" algn="l">
              <a:lnSpc>
                <a:spcPts val="3286"/>
              </a:lnSpc>
              <a:buFont typeface="Arial" panose="020B0604020202020204" pitchFamily="34" charset="0"/>
              <a:buChar char="•"/>
            </a:pPr>
            <a:endParaRPr lang="en-US" sz="3600" spc="56" dirty="0">
              <a:solidFill>
                <a:srgbClr val="FFFFFF"/>
              </a:solidFill>
              <a:latin typeface="Bitter"/>
              <a:ea typeface="Bitter"/>
              <a:cs typeface="Bitter"/>
            </a:endParaRPr>
          </a:p>
          <a:p>
            <a:pPr marL="342900" indent="-342900" algn="l">
              <a:lnSpc>
                <a:spcPts val="3286"/>
              </a:lnSpc>
              <a:buFont typeface="Arial" panose="020B0604020202020204" pitchFamily="34" charset="0"/>
              <a:buChar char="•"/>
            </a:pPr>
            <a:r>
              <a:rPr lang="en-US" sz="3600" spc="56" dirty="0">
                <a:solidFill>
                  <a:srgbClr val="FFFFFF"/>
                </a:solidFill>
                <a:latin typeface="Bitter"/>
                <a:ea typeface="Bitter"/>
                <a:cs typeface="Bitter"/>
                <a:sym typeface="Bitter"/>
              </a:rPr>
              <a:t>Visualization</a:t>
            </a:r>
            <a:endParaRPr lang="en-US" sz="3600" spc="56" dirty="0">
              <a:solidFill>
                <a:srgbClr val="FFFFFF"/>
              </a:solidFill>
              <a:latin typeface="Bitter"/>
              <a:ea typeface="Bitter"/>
              <a:cs typeface="Bitter"/>
            </a:endParaRPr>
          </a:p>
          <a:p>
            <a:pPr marL="800100" lvl="1" indent="-342900" algn="l">
              <a:lnSpc>
                <a:spcPts val="3286"/>
              </a:lnSpc>
              <a:buFont typeface="Courier New" panose="020B0604020202020204" pitchFamily="34" charset="0"/>
              <a:buChar char="o"/>
            </a:pPr>
            <a:r>
              <a:rPr lang="en-US" sz="3600" spc="56" dirty="0">
                <a:solidFill>
                  <a:srgbClr val="FFFFFF"/>
                </a:solidFill>
                <a:latin typeface="Bitter"/>
                <a:ea typeface="Bitter"/>
                <a:cs typeface="Bitter"/>
                <a:sym typeface="Bitter"/>
              </a:rPr>
              <a:t>Ch. 12 – Pictures Versus Numbers </a:t>
            </a:r>
            <a:endParaRPr lang="en-US" sz="3600" spc="56" dirty="0">
              <a:solidFill>
                <a:srgbClr val="FFFFFF"/>
              </a:solidFill>
              <a:latin typeface="Bitter"/>
              <a:ea typeface="Bitter"/>
              <a:cs typeface="Bitter"/>
            </a:endParaRPr>
          </a:p>
          <a:p>
            <a:pPr marL="800100" lvl="1" indent="-342900" algn="l">
              <a:lnSpc>
                <a:spcPts val="3286"/>
              </a:lnSpc>
              <a:buFont typeface="Courier New" panose="020B0604020202020204" pitchFamily="34" charset="0"/>
              <a:buChar char="o"/>
            </a:pPr>
            <a:r>
              <a:rPr lang="en-US" sz="3600" spc="56" dirty="0">
                <a:solidFill>
                  <a:srgbClr val="FFFFFF"/>
                </a:solidFill>
                <a:latin typeface="Bitter"/>
                <a:ea typeface="Bitter"/>
                <a:cs typeface="Bitter"/>
                <a:sym typeface="Bitter"/>
              </a:rPr>
              <a:t>Ch. 13 – Map Mashup</a:t>
            </a:r>
            <a:endParaRPr lang="en-US" sz="3600" spc="56" dirty="0">
              <a:solidFill>
                <a:srgbClr val="FFFFFF"/>
              </a:solidFill>
              <a:latin typeface="Bitter"/>
              <a:ea typeface="Bitter"/>
              <a:cs typeface="Bitter"/>
            </a:endParaRPr>
          </a:p>
          <a:p>
            <a:pPr marL="342900" indent="-342900" algn="l">
              <a:lnSpc>
                <a:spcPts val="3286"/>
              </a:lnSpc>
              <a:buFont typeface="Arial" panose="020B0604020202020204" pitchFamily="34" charset="0"/>
              <a:buChar char="•"/>
            </a:pPr>
            <a:endParaRPr lang="en-US" sz="3600" spc="56" dirty="0">
              <a:solidFill>
                <a:srgbClr val="FFFFFF"/>
              </a:solidFill>
              <a:latin typeface="Bitter"/>
              <a:ea typeface="Bitter"/>
              <a:cs typeface="Bitter"/>
            </a:endParaRPr>
          </a:p>
          <a:p>
            <a:pPr marL="342900" indent="-342900" algn="l">
              <a:lnSpc>
                <a:spcPts val="3286"/>
              </a:lnSpc>
              <a:buFont typeface="Arial" panose="020B0604020202020204" pitchFamily="34" charset="0"/>
              <a:buChar char="•"/>
            </a:pPr>
            <a:r>
              <a:rPr lang="en-US" sz="3600" spc="56" dirty="0">
                <a:solidFill>
                  <a:srgbClr val="FFFFFF"/>
                </a:solidFill>
                <a:latin typeface="Bitter"/>
                <a:ea typeface="Bitter"/>
                <a:cs typeface="Bitter"/>
                <a:sym typeface="Bitter"/>
              </a:rPr>
              <a:t>Text Mining</a:t>
            </a:r>
            <a:endParaRPr lang="en-US" sz="3600" spc="56" dirty="0">
              <a:solidFill>
                <a:srgbClr val="FFFFFF"/>
              </a:solidFill>
              <a:latin typeface="Bitter"/>
              <a:ea typeface="Bitter"/>
              <a:cs typeface="Bitter"/>
            </a:endParaRPr>
          </a:p>
          <a:p>
            <a:pPr marL="800100" lvl="1" indent="-342900">
              <a:lnSpc>
                <a:spcPts val="3286"/>
              </a:lnSpc>
              <a:buFont typeface="Courier New" panose="020B0604020202020204" pitchFamily="34" charset="0"/>
              <a:buChar char="o"/>
            </a:pPr>
            <a:r>
              <a:rPr lang="en-US" sz="3600" spc="56" dirty="0">
                <a:solidFill>
                  <a:srgbClr val="FFFFFF"/>
                </a:solidFill>
                <a:latin typeface="Bitter"/>
                <a:ea typeface="Bitter"/>
                <a:cs typeface="Bitter"/>
                <a:sym typeface="Bitter"/>
              </a:rPr>
              <a:t>Ch. 14 Word Perfect </a:t>
            </a:r>
          </a:p>
          <a:p>
            <a:pPr marL="800100" lvl="1" indent="-342900" algn="l">
              <a:lnSpc>
                <a:spcPts val="3286"/>
              </a:lnSpc>
              <a:buFont typeface="Courier New" panose="020B0604020202020204" pitchFamily="34" charset="0"/>
              <a:buChar char="o"/>
            </a:pPr>
            <a:r>
              <a:rPr lang="en-US" sz="3600" spc="56" dirty="0">
                <a:solidFill>
                  <a:srgbClr val="FFFFFF"/>
                </a:solidFill>
                <a:latin typeface="Bitter"/>
                <a:ea typeface="Bitter"/>
                <a:cs typeface="Bitter"/>
                <a:sym typeface="Bitter"/>
              </a:rPr>
              <a:t>Wk. 6 - Intro to Text Analysis in R </a:t>
            </a:r>
            <a:endParaRPr lang="en-US" sz="3600" spc="56" dirty="0">
              <a:solidFill>
                <a:srgbClr val="FFFFFF"/>
              </a:solidFill>
              <a:latin typeface="Bitter"/>
              <a:ea typeface="Bitter"/>
              <a:cs typeface="Bitter"/>
            </a:endParaRPr>
          </a:p>
          <a:p>
            <a:pPr marL="800100" lvl="1" indent="-342900" algn="l">
              <a:lnSpc>
                <a:spcPts val="3286"/>
              </a:lnSpc>
              <a:buFont typeface="Courier New" panose="020B0604020202020204" pitchFamily="34" charset="0"/>
              <a:buChar char="o"/>
            </a:pPr>
            <a:r>
              <a:rPr lang="en-US" sz="3600" spc="56" dirty="0">
                <a:solidFill>
                  <a:srgbClr val="FFFFFF"/>
                </a:solidFill>
                <a:latin typeface="Bitter"/>
                <a:ea typeface="Bitter"/>
                <a:cs typeface="Bitter"/>
                <a:sym typeface="Bitter"/>
              </a:rPr>
              <a:t>Ch. 15 - Happy Words? </a:t>
            </a:r>
            <a:endParaRPr lang="en-US" sz="3600" spc="56" dirty="0">
              <a:solidFill>
                <a:srgbClr val="FFFFFF"/>
              </a:solidFill>
              <a:latin typeface="Bitter"/>
              <a:ea typeface="Bitter"/>
              <a:cs typeface="Bitter"/>
            </a:endParaRPr>
          </a:p>
        </p:txBody>
      </p:sp>
    </p:spTree>
    <p:extLst>
      <p:ext uri="{BB962C8B-B14F-4D97-AF65-F5344CB8AC3E}">
        <p14:creationId xmlns:p14="http://schemas.microsoft.com/office/powerpoint/2010/main" val="3600142333"/>
      </p:ext>
    </p:extLst>
  </p:cSld>
  <p:clrMapOvr>
    <a:masterClrMapping/>
  </p:clrMapOvr>
  <mc:AlternateContent xmlns:mc="http://schemas.openxmlformats.org/markup-compatibility/2006">
    <mc:Choice xmlns:p14="http://schemas.microsoft.com/office/powerpoint/2010/main" Requires="p14">
      <p:transition spd="slow" p14:dur="2000" advTm="51968"/>
    </mc:Choice>
    <mc:Fallback>
      <p:transition spd="slow" advTm="5196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444C8-5484-3BAD-E8FB-75930BD9C1D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5850908-3A0F-D8AE-D37E-1B34D3C562B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grpSp>
        <p:nvGrpSpPr>
          <p:cNvPr id="3" name="Group 3">
            <a:extLst>
              <a:ext uri="{FF2B5EF4-FFF2-40B4-BE49-F238E27FC236}">
                <a16:creationId xmlns:a16="http://schemas.microsoft.com/office/drawing/2014/main" id="{74F5659B-CB5C-2BB4-A0E6-459B4DB43DCC}"/>
              </a:ext>
            </a:extLst>
          </p:cNvPr>
          <p:cNvGrpSpPr/>
          <p:nvPr/>
        </p:nvGrpSpPr>
        <p:grpSpPr>
          <a:xfrm rot="317401">
            <a:off x="11293551" y="1735625"/>
            <a:ext cx="4543772" cy="5446198"/>
            <a:chOff x="0" y="0"/>
            <a:chExt cx="1049659" cy="1258129"/>
          </a:xfrm>
        </p:grpSpPr>
        <p:sp>
          <p:nvSpPr>
            <p:cNvPr id="4" name="Freeform 4">
              <a:extLst>
                <a:ext uri="{FF2B5EF4-FFF2-40B4-BE49-F238E27FC236}">
                  <a16:creationId xmlns:a16="http://schemas.microsoft.com/office/drawing/2014/main" id="{82C11164-980C-73C6-DC4F-C86BC13F03F7}"/>
                </a:ext>
              </a:extLst>
            </p:cNvPr>
            <p:cNvSpPr/>
            <p:nvPr/>
          </p:nvSpPr>
          <p:spPr>
            <a:xfrm>
              <a:off x="0" y="0"/>
              <a:ext cx="1049659" cy="1258129"/>
            </a:xfrm>
            <a:custGeom>
              <a:avLst/>
              <a:gdLst/>
              <a:ahLst/>
              <a:cxnLst/>
              <a:rect l="l" t="t" r="r" b="b"/>
              <a:pathLst>
                <a:path w="1049659" h="1258129">
                  <a:moveTo>
                    <a:pt x="0" y="0"/>
                  </a:moveTo>
                  <a:lnTo>
                    <a:pt x="1049659" y="0"/>
                  </a:lnTo>
                  <a:lnTo>
                    <a:pt x="1049659" y="1258129"/>
                  </a:lnTo>
                  <a:lnTo>
                    <a:pt x="0" y="1258129"/>
                  </a:lnTo>
                  <a:close/>
                </a:path>
              </a:pathLst>
            </a:custGeom>
            <a:blipFill>
              <a:blip r:embed="rId4"/>
              <a:stretch>
                <a:fillRect l="-39895" r="-39895"/>
              </a:stretch>
            </a:blipFill>
            <a:ln w="47625" cap="sq">
              <a:solidFill>
                <a:srgbClr val="FFFFFF"/>
              </a:solidFill>
              <a:prstDash val="solid"/>
              <a:miter/>
            </a:ln>
          </p:spPr>
          <p:txBody>
            <a:bodyPr/>
            <a:lstStyle/>
            <a:p>
              <a:endParaRPr lang="en-US"/>
            </a:p>
          </p:txBody>
        </p:sp>
      </p:grpSp>
      <p:grpSp>
        <p:nvGrpSpPr>
          <p:cNvPr id="5" name="Group 5">
            <a:extLst>
              <a:ext uri="{FF2B5EF4-FFF2-40B4-BE49-F238E27FC236}">
                <a16:creationId xmlns:a16="http://schemas.microsoft.com/office/drawing/2014/main" id="{12D53911-6004-42DC-2E10-06CE79BC7F73}"/>
              </a:ext>
            </a:extLst>
          </p:cNvPr>
          <p:cNvGrpSpPr/>
          <p:nvPr/>
        </p:nvGrpSpPr>
        <p:grpSpPr>
          <a:xfrm rot="-119455">
            <a:off x="14289158" y="4612314"/>
            <a:ext cx="3579103" cy="4325833"/>
            <a:chOff x="0" y="0"/>
            <a:chExt cx="547024" cy="661152"/>
          </a:xfrm>
        </p:grpSpPr>
        <p:sp>
          <p:nvSpPr>
            <p:cNvPr id="6" name="Freeform 6">
              <a:extLst>
                <a:ext uri="{FF2B5EF4-FFF2-40B4-BE49-F238E27FC236}">
                  <a16:creationId xmlns:a16="http://schemas.microsoft.com/office/drawing/2014/main" id="{C341BBC8-BA9F-4F4C-76ED-6FD553B41709}"/>
                </a:ext>
              </a:extLst>
            </p:cNvPr>
            <p:cNvSpPr/>
            <p:nvPr/>
          </p:nvSpPr>
          <p:spPr>
            <a:xfrm>
              <a:off x="0" y="0"/>
              <a:ext cx="547024" cy="661152"/>
            </a:xfrm>
            <a:custGeom>
              <a:avLst/>
              <a:gdLst/>
              <a:ahLst/>
              <a:cxnLst/>
              <a:rect l="l" t="t" r="r" b="b"/>
              <a:pathLst>
                <a:path w="547024" h="661152">
                  <a:moveTo>
                    <a:pt x="0" y="0"/>
                  </a:moveTo>
                  <a:lnTo>
                    <a:pt x="547024" y="0"/>
                  </a:lnTo>
                  <a:lnTo>
                    <a:pt x="547024" y="661152"/>
                  </a:lnTo>
                  <a:lnTo>
                    <a:pt x="0" y="661152"/>
                  </a:lnTo>
                  <a:close/>
                </a:path>
              </a:pathLst>
            </a:custGeom>
            <a:blipFill>
              <a:blip r:embed="rId5"/>
              <a:stretch>
                <a:fillRect l="-40704" r="-40704"/>
              </a:stretch>
            </a:blipFill>
            <a:ln w="47625" cap="sq">
              <a:solidFill>
                <a:srgbClr val="FFFFFF"/>
              </a:solidFill>
              <a:prstDash val="solid"/>
              <a:miter/>
            </a:ln>
          </p:spPr>
          <p:txBody>
            <a:bodyPr/>
            <a:lstStyle/>
            <a:p>
              <a:endParaRPr lang="en-US"/>
            </a:p>
          </p:txBody>
        </p:sp>
      </p:grpSp>
      <p:sp>
        <p:nvSpPr>
          <p:cNvPr id="7" name="Freeform 7">
            <a:extLst>
              <a:ext uri="{FF2B5EF4-FFF2-40B4-BE49-F238E27FC236}">
                <a16:creationId xmlns:a16="http://schemas.microsoft.com/office/drawing/2014/main" id="{4626FE14-3B58-ECDD-BE75-C5911189CC8B}"/>
              </a:ext>
            </a:extLst>
          </p:cNvPr>
          <p:cNvSpPr/>
          <p:nvPr/>
        </p:nvSpPr>
        <p:spPr>
          <a:xfrm rot="-1243576">
            <a:off x="-7030019" y="616289"/>
            <a:ext cx="19724024" cy="824823"/>
          </a:xfrm>
          <a:custGeom>
            <a:avLst/>
            <a:gdLst/>
            <a:ahLst/>
            <a:cxnLst/>
            <a:rect l="l" t="t" r="r" b="b"/>
            <a:pathLst>
              <a:path w="19724024" h="824823">
                <a:moveTo>
                  <a:pt x="0" y="0"/>
                </a:moveTo>
                <a:lnTo>
                  <a:pt x="19724024" y="0"/>
                </a:lnTo>
                <a:lnTo>
                  <a:pt x="19724024" y="824822"/>
                </a:lnTo>
                <a:lnTo>
                  <a:pt x="0" y="82482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C6B9F32D-BB0C-39FC-9ECD-B926D91C8E8C}"/>
              </a:ext>
            </a:extLst>
          </p:cNvPr>
          <p:cNvSpPr/>
          <p:nvPr/>
        </p:nvSpPr>
        <p:spPr>
          <a:xfrm rot="2442344">
            <a:off x="15763243" y="1530720"/>
            <a:ext cx="498939" cy="813487"/>
          </a:xfrm>
          <a:custGeom>
            <a:avLst/>
            <a:gdLst/>
            <a:ahLst/>
            <a:cxnLst/>
            <a:rect l="l" t="t" r="r" b="b"/>
            <a:pathLst>
              <a:path w="498939" h="813487">
                <a:moveTo>
                  <a:pt x="0" y="0"/>
                </a:moveTo>
                <a:lnTo>
                  <a:pt x="498938" y="0"/>
                </a:lnTo>
                <a:lnTo>
                  <a:pt x="498938" y="813487"/>
                </a:lnTo>
                <a:lnTo>
                  <a:pt x="0" y="81348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TextBox 9">
            <a:extLst>
              <a:ext uri="{FF2B5EF4-FFF2-40B4-BE49-F238E27FC236}">
                <a16:creationId xmlns:a16="http://schemas.microsoft.com/office/drawing/2014/main" id="{332438A7-24E6-ED4B-4211-37F33FFF75F5}"/>
              </a:ext>
            </a:extLst>
          </p:cNvPr>
          <p:cNvSpPr txBox="1"/>
          <p:nvPr/>
        </p:nvSpPr>
        <p:spPr>
          <a:xfrm>
            <a:off x="1121242" y="1882352"/>
            <a:ext cx="10196951" cy="1461939"/>
          </a:xfrm>
          <a:prstGeom prst="rect">
            <a:avLst/>
          </a:prstGeom>
        </p:spPr>
        <p:txBody>
          <a:bodyPr wrap="square" lIns="0" tIns="0" rIns="0" bIns="0" rtlCol="0" anchor="t">
            <a:spAutoFit/>
          </a:bodyPr>
          <a:lstStyle/>
          <a:p>
            <a:pPr algn="l">
              <a:lnSpc>
                <a:spcPts val="11368"/>
              </a:lnSpc>
            </a:pPr>
            <a:r>
              <a:rPr lang="en-US" sz="9634" dirty="0">
                <a:solidFill>
                  <a:srgbClr val="FFFFFF"/>
                </a:solidFill>
                <a:latin typeface="Handelson Six"/>
                <a:ea typeface="Handelson Six"/>
                <a:cs typeface="Handelson Six"/>
                <a:sym typeface="Handelson Six"/>
              </a:rPr>
              <a:t>Data Preparation</a:t>
            </a:r>
          </a:p>
        </p:txBody>
      </p:sp>
      <p:sp>
        <p:nvSpPr>
          <p:cNvPr id="10" name="TextBox 10">
            <a:extLst>
              <a:ext uri="{FF2B5EF4-FFF2-40B4-BE49-F238E27FC236}">
                <a16:creationId xmlns:a16="http://schemas.microsoft.com/office/drawing/2014/main" id="{E67E790E-F879-FCFE-D765-BF822327E4DF}"/>
              </a:ext>
            </a:extLst>
          </p:cNvPr>
          <p:cNvSpPr txBox="1"/>
          <p:nvPr/>
        </p:nvSpPr>
        <p:spPr>
          <a:xfrm>
            <a:off x="1065338" y="3688881"/>
            <a:ext cx="10042731" cy="6138412"/>
          </a:xfrm>
          <a:prstGeom prst="rect">
            <a:avLst/>
          </a:prstGeom>
        </p:spPr>
        <p:txBody>
          <a:bodyPr wrap="square" lIns="0" tIns="0" rIns="0" bIns="0" rtlCol="0" anchor="t">
            <a:spAutoFit/>
          </a:bodyPr>
          <a:lstStyle/>
          <a:p>
            <a:pPr marL="457200" indent="-457200" algn="l">
              <a:lnSpc>
                <a:spcPts val="3653"/>
              </a:lnSpc>
              <a:buFont typeface="Arial" panose="020B0604020202020204" pitchFamily="34" charset="0"/>
              <a:buChar char="•"/>
            </a:pPr>
            <a:r>
              <a:rPr lang="en-US" sz="2609" spc="62" dirty="0">
                <a:solidFill>
                  <a:srgbClr val="FFFFFF"/>
                </a:solidFill>
                <a:latin typeface="Bitter"/>
                <a:ea typeface="Bitter"/>
                <a:cs typeface="Bitter"/>
                <a:sym typeface="Bitter"/>
              </a:rPr>
              <a:t>Loaded 311 service request files for 2017–2019</a:t>
            </a:r>
            <a:br>
              <a:rPr lang="en-US" sz="2609" spc="62" dirty="0">
                <a:solidFill>
                  <a:srgbClr val="FFFFFF"/>
                </a:solidFill>
                <a:latin typeface="Bitter"/>
                <a:ea typeface="Bitter"/>
                <a:cs typeface="Bitter"/>
                <a:sym typeface="Bitter"/>
              </a:rPr>
            </a:br>
            <a:endParaRPr lang="en-US" sz="2609" spc="62" dirty="0">
              <a:solidFill>
                <a:srgbClr val="FFFFFF"/>
              </a:solidFill>
              <a:latin typeface="Bitter"/>
              <a:ea typeface="Bitter"/>
              <a:cs typeface="Bitter"/>
              <a:sym typeface="Bitter"/>
            </a:endParaRPr>
          </a:p>
          <a:p>
            <a:pPr marL="457200" indent="-457200" algn="l">
              <a:lnSpc>
                <a:spcPts val="3653"/>
              </a:lnSpc>
              <a:buFont typeface="Arial" panose="020B0604020202020204" pitchFamily="34" charset="0"/>
              <a:buChar char="•"/>
            </a:pPr>
            <a:r>
              <a:rPr lang="en-US" sz="2609" spc="62" dirty="0">
                <a:solidFill>
                  <a:srgbClr val="FFFFFF"/>
                </a:solidFill>
                <a:latin typeface="Bitter"/>
                <a:ea typeface="Bitter"/>
                <a:cs typeface="Bitter"/>
                <a:sym typeface="Bitter"/>
              </a:rPr>
              <a:t>Replaced missing issue descriptions with blank text</a:t>
            </a:r>
            <a:br>
              <a:rPr lang="en-US" sz="2609" spc="62" dirty="0">
                <a:solidFill>
                  <a:srgbClr val="FFFFFF"/>
                </a:solidFill>
                <a:latin typeface="Bitter"/>
                <a:ea typeface="Bitter"/>
                <a:cs typeface="Bitter"/>
                <a:sym typeface="Bitter"/>
              </a:rPr>
            </a:br>
            <a:endParaRPr lang="en-US" sz="2609" spc="62" dirty="0">
              <a:solidFill>
                <a:srgbClr val="FFFFFF"/>
              </a:solidFill>
              <a:latin typeface="Bitter"/>
              <a:ea typeface="Bitter"/>
              <a:cs typeface="Bitter"/>
              <a:sym typeface="Bitter"/>
            </a:endParaRPr>
          </a:p>
          <a:p>
            <a:pPr marL="457200" indent="-457200" algn="l">
              <a:lnSpc>
                <a:spcPts val="3653"/>
              </a:lnSpc>
              <a:buFont typeface="Arial" panose="020B0604020202020204" pitchFamily="34" charset="0"/>
              <a:buChar char="•"/>
            </a:pPr>
            <a:r>
              <a:rPr lang="en-US" sz="2609" spc="62" dirty="0">
                <a:solidFill>
                  <a:srgbClr val="FFFFFF"/>
                </a:solidFill>
                <a:latin typeface="Bitter"/>
                <a:ea typeface="Bitter"/>
                <a:cs typeface="Bitter"/>
                <a:sym typeface="Bitter"/>
              </a:rPr>
              <a:t>Converted ticket date fields into date-time format</a:t>
            </a:r>
            <a:br>
              <a:rPr lang="en-US" sz="2609" spc="62" dirty="0">
                <a:solidFill>
                  <a:srgbClr val="FFFFFF"/>
                </a:solidFill>
                <a:latin typeface="Bitter"/>
                <a:ea typeface="Bitter"/>
                <a:cs typeface="Bitter"/>
                <a:sym typeface="Bitter"/>
              </a:rPr>
            </a:br>
            <a:endParaRPr lang="en-US" sz="2609" spc="62" dirty="0">
              <a:solidFill>
                <a:srgbClr val="FFFFFF"/>
              </a:solidFill>
              <a:latin typeface="Bitter"/>
              <a:ea typeface="Bitter"/>
              <a:cs typeface="Bitter"/>
              <a:sym typeface="Bitter"/>
            </a:endParaRPr>
          </a:p>
          <a:p>
            <a:pPr marL="457200" indent="-457200" algn="l">
              <a:lnSpc>
                <a:spcPts val="3653"/>
              </a:lnSpc>
              <a:buFont typeface="Arial" panose="020B0604020202020204" pitchFamily="34" charset="0"/>
              <a:buChar char="•"/>
            </a:pPr>
            <a:r>
              <a:rPr lang="en-US" sz="2609" spc="62" dirty="0">
                <a:solidFill>
                  <a:srgbClr val="FFFFFF"/>
                </a:solidFill>
                <a:latin typeface="Bitter"/>
                <a:ea typeface="Bitter"/>
                <a:cs typeface="Bitter"/>
                <a:sym typeface="Bitter"/>
              </a:rPr>
              <a:t>Created a year variable from ticket creation date</a:t>
            </a:r>
            <a:br>
              <a:rPr lang="en-US" sz="2609" spc="62" dirty="0">
                <a:solidFill>
                  <a:srgbClr val="FFFFFF"/>
                </a:solidFill>
                <a:latin typeface="Bitter"/>
                <a:ea typeface="Bitter"/>
                <a:cs typeface="Bitter"/>
                <a:sym typeface="Bitter"/>
              </a:rPr>
            </a:br>
            <a:endParaRPr lang="en-US" sz="2609" spc="62" dirty="0">
              <a:solidFill>
                <a:srgbClr val="FFFFFF"/>
              </a:solidFill>
              <a:latin typeface="Bitter"/>
              <a:ea typeface="Bitter"/>
              <a:cs typeface="Bitter"/>
              <a:sym typeface="Bitter"/>
            </a:endParaRPr>
          </a:p>
          <a:p>
            <a:pPr marL="457200" indent="-457200" algn="l">
              <a:lnSpc>
                <a:spcPts val="3653"/>
              </a:lnSpc>
              <a:buFont typeface="Arial" panose="020B0604020202020204" pitchFamily="34" charset="0"/>
              <a:buChar char="•"/>
            </a:pPr>
            <a:r>
              <a:rPr lang="en-US" sz="2609" spc="62" dirty="0">
                <a:solidFill>
                  <a:srgbClr val="FFFFFF"/>
                </a:solidFill>
                <a:latin typeface="Bitter"/>
                <a:ea typeface="Bitter"/>
                <a:cs typeface="Bitter"/>
                <a:sym typeface="Bitter"/>
              </a:rPr>
              <a:t>Combined yearly 311 files into one dataset</a:t>
            </a:r>
            <a:br>
              <a:rPr lang="en-US" sz="2609" spc="62" dirty="0">
                <a:solidFill>
                  <a:srgbClr val="FFFFFF"/>
                </a:solidFill>
                <a:latin typeface="Bitter"/>
                <a:ea typeface="Bitter"/>
                <a:cs typeface="Bitter"/>
                <a:sym typeface="Bitter"/>
              </a:rPr>
            </a:br>
            <a:endParaRPr lang="en-US" sz="2609" spc="62" dirty="0">
              <a:solidFill>
                <a:srgbClr val="FFFFFF"/>
              </a:solidFill>
              <a:latin typeface="Bitter"/>
              <a:ea typeface="Bitter"/>
              <a:cs typeface="Bitter"/>
              <a:sym typeface="Bitter"/>
            </a:endParaRPr>
          </a:p>
          <a:p>
            <a:pPr marL="457200" indent="-457200" algn="l">
              <a:lnSpc>
                <a:spcPts val="3653"/>
              </a:lnSpc>
              <a:buFont typeface="Arial" panose="020B0604020202020204" pitchFamily="34" charset="0"/>
              <a:buChar char="•"/>
            </a:pPr>
            <a:r>
              <a:rPr lang="en-US" sz="2609" spc="62" dirty="0">
                <a:solidFill>
                  <a:srgbClr val="FFFFFF"/>
                </a:solidFill>
                <a:latin typeface="Bitter"/>
                <a:ea typeface="Bitter"/>
                <a:cs typeface="Bitter"/>
                <a:sym typeface="Bitter"/>
              </a:rPr>
              <a:t>Filtered crime data to Miami-Dade County</a:t>
            </a:r>
            <a:br>
              <a:rPr lang="en-US" sz="2609" spc="62" dirty="0">
                <a:solidFill>
                  <a:srgbClr val="FFFFFF"/>
                </a:solidFill>
                <a:latin typeface="Bitter"/>
                <a:ea typeface="Bitter"/>
                <a:cs typeface="Bitter"/>
                <a:sym typeface="Bitter"/>
              </a:rPr>
            </a:br>
            <a:endParaRPr lang="en-US" sz="2609" spc="62" dirty="0">
              <a:solidFill>
                <a:srgbClr val="FFFFFF"/>
              </a:solidFill>
              <a:latin typeface="Bitter"/>
              <a:ea typeface="Bitter"/>
              <a:cs typeface="Bitter"/>
              <a:sym typeface="Bitter"/>
            </a:endParaRPr>
          </a:p>
          <a:p>
            <a:pPr marL="457200" indent="-457200" algn="l">
              <a:lnSpc>
                <a:spcPts val="3653"/>
              </a:lnSpc>
              <a:buFont typeface="Arial" panose="020B0604020202020204" pitchFamily="34" charset="0"/>
              <a:buChar char="•"/>
            </a:pPr>
            <a:r>
              <a:rPr lang="en-US" sz="2609" spc="62" dirty="0">
                <a:solidFill>
                  <a:srgbClr val="FFFFFF"/>
                </a:solidFill>
                <a:latin typeface="Bitter"/>
                <a:ea typeface="Bitter"/>
                <a:cs typeface="Bitter"/>
                <a:sym typeface="Bitter"/>
              </a:rPr>
              <a:t>Merged 311 totals with property crime data by year</a:t>
            </a:r>
          </a:p>
        </p:txBody>
      </p:sp>
    </p:spTree>
    <p:extLst>
      <p:ext uri="{BB962C8B-B14F-4D97-AF65-F5344CB8AC3E}">
        <p14:creationId xmlns:p14="http://schemas.microsoft.com/office/powerpoint/2010/main" val="2398698701"/>
      </p:ext>
    </p:extLst>
  </p:cSld>
  <p:clrMapOvr>
    <a:masterClrMapping/>
  </p:clrMapOvr>
  <mc:AlternateContent xmlns:mc="http://schemas.openxmlformats.org/markup-compatibility/2006">
    <mc:Choice xmlns:p14="http://schemas.microsoft.com/office/powerpoint/2010/main" Requires="p14">
      <p:transition spd="slow" p14:dur="2000" advTm="54482"/>
    </mc:Choice>
    <mc:Fallback>
      <p:transition spd="slow" advTm="5448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sp>
        <p:nvSpPr>
          <p:cNvPr id="6" name="TextBox 6"/>
          <p:cNvSpPr txBox="1"/>
          <p:nvPr/>
        </p:nvSpPr>
        <p:spPr>
          <a:xfrm>
            <a:off x="9053956" y="646241"/>
            <a:ext cx="8853043" cy="4062651"/>
          </a:xfrm>
          <a:prstGeom prst="rect">
            <a:avLst/>
          </a:prstGeom>
        </p:spPr>
        <p:txBody>
          <a:bodyPr wrap="square" lIns="0" tIns="0" rIns="0" bIns="0" rtlCol="0" anchor="t">
            <a:spAutoFit/>
          </a:bodyPr>
          <a:lstStyle/>
          <a:p>
            <a:pPr algn="l"/>
            <a:r>
              <a:rPr lang="en-US" sz="9900" dirty="0">
                <a:solidFill>
                  <a:srgbClr val="000000"/>
                </a:solidFill>
                <a:latin typeface="Handelson Six"/>
                <a:ea typeface="Handelson Six"/>
                <a:cs typeface="Handelson Six"/>
                <a:sym typeface="Handelson Six"/>
              </a:rPr>
              <a:t>311 Requests trends</a:t>
            </a:r>
            <a:br>
              <a:rPr lang="en-US" sz="6600" dirty="0">
                <a:solidFill>
                  <a:srgbClr val="000000"/>
                </a:solidFill>
                <a:latin typeface="Handelson Six"/>
                <a:ea typeface="Handelson Six"/>
                <a:cs typeface="Handelson Six"/>
                <a:sym typeface="Handelson Six"/>
              </a:rPr>
            </a:br>
            <a:r>
              <a:rPr lang="en-US" sz="6600" dirty="0">
                <a:solidFill>
                  <a:srgbClr val="000000"/>
                </a:solidFill>
                <a:latin typeface="Handelson Six"/>
                <a:ea typeface="Handelson Six"/>
                <a:cs typeface="Handelson Six"/>
                <a:sym typeface="Handelson Six"/>
              </a:rPr>
              <a:t>(2017-2019)</a:t>
            </a:r>
          </a:p>
        </p:txBody>
      </p:sp>
      <p:sp>
        <p:nvSpPr>
          <p:cNvPr id="7" name="TextBox 7"/>
          <p:cNvSpPr txBox="1"/>
          <p:nvPr/>
        </p:nvSpPr>
        <p:spPr>
          <a:xfrm>
            <a:off x="10294839" y="5208128"/>
            <a:ext cx="6546330" cy="3869393"/>
          </a:xfrm>
          <a:prstGeom prst="rect">
            <a:avLst/>
          </a:prstGeom>
        </p:spPr>
        <p:txBody>
          <a:bodyPr lIns="0" tIns="0" rIns="0" bIns="0" rtlCol="0" anchor="t">
            <a:spAutoFit/>
          </a:bodyPr>
          <a:lstStyle/>
          <a:p>
            <a:pPr marL="457200" indent="-457200">
              <a:lnSpc>
                <a:spcPts val="3820"/>
              </a:lnSpc>
              <a:buFont typeface="Arial" panose="020B0604020202020204" pitchFamily="34" charset="0"/>
              <a:buChar char="•"/>
            </a:pPr>
            <a:r>
              <a:rPr lang="en-US" sz="2700" spc="65" dirty="0">
                <a:solidFill>
                  <a:srgbClr val="000000"/>
                </a:solidFill>
                <a:latin typeface="Bitter"/>
                <a:ea typeface="Bitter"/>
                <a:cs typeface="Bitter"/>
                <a:sym typeface="Bitter"/>
              </a:rPr>
              <a:t>Requests increase from 2017 to 2018</a:t>
            </a:r>
            <a:br>
              <a:rPr lang="en-US" sz="2700" spc="65" dirty="0">
                <a:solidFill>
                  <a:srgbClr val="000000"/>
                </a:solidFill>
                <a:latin typeface="Bitter"/>
                <a:ea typeface="Bitter"/>
                <a:cs typeface="Bitter"/>
                <a:sym typeface="Bitter"/>
              </a:rPr>
            </a:br>
            <a:endParaRPr lang="en-US" sz="2700" spc="65" dirty="0">
              <a:solidFill>
                <a:srgbClr val="000000"/>
              </a:solidFill>
              <a:latin typeface="Bitter"/>
              <a:ea typeface="Bitter"/>
              <a:cs typeface="Bitter"/>
            </a:endParaRPr>
          </a:p>
          <a:p>
            <a:pPr marL="457200" indent="-457200">
              <a:lnSpc>
                <a:spcPts val="3820"/>
              </a:lnSpc>
              <a:buFont typeface="Arial" panose="020B0604020202020204" pitchFamily="34" charset="0"/>
              <a:buChar char="•"/>
            </a:pPr>
            <a:r>
              <a:rPr lang="en-US" sz="2700" spc="65" dirty="0">
                <a:solidFill>
                  <a:srgbClr val="000000"/>
                </a:solidFill>
                <a:latin typeface="Bitter"/>
                <a:ea typeface="Bitter"/>
                <a:cs typeface="Bitter"/>
                <a:sym typeface="Bitter"/>
              </a:rPr>
              <a:t>Peak occurs in 2018</a:t>
            </a:r>
            <a:br>
              <a:rPr lang="en-US" sz="2700" spc="65" dirty="0">
                <a:solidFill>
                  <a:srgbClr val="000000"/>
                </a:solidFill>
                <a:latin typeface="Bitter"/>
                <a:ea typeface="Bitter"/>
                <a:cs typeface="Bitter"/>
                <a:sym typeface="Bitter"/>
              </a:rPr>
            </a:br>
            <a:endParaRPr lang="en-US" sz="2700" spc="65" dirty="0">
              <a:solidFill>
                <a:srgbClr val="000000"/>
              </a:solidFill>
              <a:latin typeface="Bitter"/>
              <a:ea typeface="Bitter"/>
              <a:cs typeface="Bitter"/>
            </a:endParaRPr>
          </a:p>
          <a:p>
            <a:pPr marL="457200" indent="-457200">
              <a:lnSpc>
                <a:spcPts val="3820"/>
              </a:lnSpc>
              <a:buFont typeface="Arial" panose="020B0604020202020204" pitchFamily="34" charset="0"/>
              <a:buChar char="•"/>
            </a:pPr>
            <a:r>
              <a:rPr lang="en-US" sz="2700" spc="65" dirty="0">
                <a:solidFill>
                  <a:srgbClr val="000000"/>
                </a:solidFill>
                <a:latin typeface="Bitter"/>
                <a:ea typeface="Bitter"/>
                <a:cs typeface="Bitter"/>
                <a:sym typeface="Bitter"/>
              </a:rPr>
              <a:t>Noticeable decline in 2019</a:t>
            </a:r>
            <a:br>
              <a:rPr lang="en-US" sz="2700" spc="65" dirty="0">
                <a:solidFill>
                  <a:srgbClr val="000000"/>
                </a:solidFill>
                <a:latin typeface="Bitter"/>
                <a:ea typeface="Bitter"/>
                <a:cs typeface="Bitter"/>
                <a:sym typeface="Bitter"/>
              </a:rPr>
            </a:br>
            <a:endParaRPr lang="en-US" sz="2700" spc="65" dirty="0">
              <a:solidFill>
                <a:srgbClr val="000000"/>
              </a:solidFill>
              <a:latin typeface="Bitter"/>
              <a:ea typeface="Bitter"/>
              <a:cs typeface="Bitter"/>
            </a:endParaRPr>
          </a:p>
          <a:p>
            <a:pPr marL="457200" indent="-457200" algn="l">
              <a:lnSpc>
                <a:spcPts val="3820"/>
              </a:lnSpc>
              <a:buFont typeface="Arial" panose="020B0604020202020204" pitchFamily="34" charset="0"/>
              <a:buChar char="•"/>
            </a:pPr>
            <a:r>
              <a:rPr lang="en-US" sz="2700" spc="65" dirty="0">
                <a:solidFill>
                  <a:srgbClr val="000000"/>
                </a:solidFill>
                <a:latin typeface="Bitter"/>
                <a:ea typeface="Bitter"/>
                <a:cs typeface="Bitter"/>
                <a:sym typeface="Bitter"/>
              </a:rPr>
              <a:t>Overall: relatively stable demand</a:t>
            </a:r>
            <a:endParaRPr lang="en-US" sz="2700" spc="65" dirty="0">
              <a:solidFill>
                <a:srgbClr val="000000"/>
              </a:solidFill>
              <a:latin typeface="Bitter"/>
              <a:ea typeface="Bitter"/>
              <a:cs typeface="Bitter"/>
            </a:endParaRPr>
          </a:p>
        </p:txBody>
      </p:sp>
      <p:pic>
        <p:nvPicPr>
          <p:cNvPr id="4" name="Picture 3" descr="A graph with a line and a point&#10;&#10;AI-generated content may be incorrect.">
            <a:extLst>
              <a:ext uri="{FF2B5EF4-FFF2-40B4-BE49-F238E27FC236}">
                <a16:creationId xmlns:a16="http://schemas.microsoft.com/office/drawing/2014/main" id="{FD0CC903-CEB3-6DBF-5348-5D135AE2CD5D}"/>
              </a:ext>
            </a:extLst>
          </p:cNvPr>
          <p:cNvPicPr>
            <a:picLocks noChangeAspect="1"/>
          </p:cNvPicPr>
          <p:nvPr/>
        </p:nvPicPr>
        <p:blipFill>
          <a:blip r:embed="rId4"/>
          <a:stretch>
            <a:fillRect/>
          </a:stretch>
        </p:blipFill>
        <p:spPr>
          <a:xfrm>
            <a:off x="225438" y="1566333"/>
            <a:ext cx="8622570" cy="687211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835"/>
    </mc:Choice>
    <mc:Fallback>
      <p:transition spd="slow" advTm="3283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B22F3-6A2E-F754-0C23-70DA63B514E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AC544AF-AC3C-4E8D-BFAA-545EF7A680D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sp>
        <p:nvSpPr>
          <p:cNvPr id="7" name="TextBox 7">
            <a:extLst>
              <a:ext uri="{FF2B5EF4-FFF2-40B4-BE49-F238E27FC236}">
                <a16:creationId xmlns:a16="http://schemas.microsoft.com/office/drawing/2014/main" id="{977A6A24-7375-F798-4A0F-D2B1B5D613AE}"/>
              </a:ext>
            </a:extLst>
          </p:cNvPr>
          <p:cNvSpPr txBox="1"/>
          <p:nvPr/>
        </p:nvSpPr>
        <p:spPr>
          <a:xfrm>
            <a:off x="201493" y="585729"/>
            <a:ext cx="9383126" cy="4078039"/>
          </a:xfrm>
          <a:prstGeom prst="rect">
            <a:avLst/>
          </a:prstGeom>
        </p:spPr>
        <p:txBody>
          <a:bodyPr wrap="square" lIns="0" tIns="0" rIns="0" bIns="0" rtlCol="0" anchor="t">
            <a:spAutoFit/>
          </a:bodyPr>
          <a:lstStyle/>
          <a:p>
            <a:pPr algn="l">
              <a:lnSpc>
                <a:spcPts val="10593"/>
              </a:lnSpc>
            </a:pPr>
            <a:r>
              <a:rPr lang="en-US" sz="9900" dirty="0">
                <a:solidFill>
                  <a:srgbClr val="000000"/>
                </a:solidFill>
                <a:latin typeface="Handelson Six"/>
                <a:ea typeface="Handelson Six"/>
                <a:cs typeface="Handelson Six"/>
                <a:sym typeface="Handelson Six"/>
              </a:rPr>
              <a:t>most common complaint types</a:t>
            </a:r>
          </a:p>
          <a:p>
            <a:pPr algn="l">
              <a:lnSpc>
                <a:spcPts val="10593"/>
              </a:lnSpc>
            </a:pPr>
            <a:endParaRPr lang="en-US" sz="9900" dirty="0">
              <a:solidFill>
                <a:srgbClr val="000000"/>
              </a:solidFill>
              <a:latin typeface="Handelson Six"/>
              <a:ea typeface="Handelson Six"/>
              <a:cs typeface="Handelson Six"/>
              <a:sym typeface="Handelson Six"/>
            </a:endParaRPr>
          </a:p>
        </p:txBody>
      </p:sp>
      <p:sp>
        <p:nvSpPr>
          <p:cNvPr id="8" name="TextBox 8">
            <a:extLst>
              <a:ext uri="{FF2B5EF4-FFF2-40B4-BE49-F238E27FC236}">
                <a16:creationId xmlns:a16="http://schemas.microsoft.com/office/drawing/2014/main" id="{0BC02C8C-D02C-DCC3-C847-FE2196DA899A}"/>
              </a:ext>
            </a:extLst>
          </p:cNvPr>
          <p:cNvSpPr txBox="1"/>
          <p:nvPr/>
        </p:nvSpPr>
        <p:spPr>
          <a:xfrm>
            <a:off x="201493" y="4358380"/>
            <a:ext cx="6499568" cy="4844018"/>
          </a:xfrm>
          <a:prstGeom prst="rect">
            <a:avLst/>
          </a:prstGeom>
        </p:spPr>
        <p:txBody>
          <a:bodyPr lIns="0" tIns="0" rIns="0" bIns="0" rtlCol="0" anchor="t">
            <a:spAutoFit/>
          </a:bodyPr>
          <a:lstStyle/>
          <a:p>
            <a:pPr marL="457200" indent="-457200">
              <a:lnSpc>
                <a:spcPts val="3820"/>
              </a:lnSpc>
              <a:buFont typeface="Arial" panose="020B0604020202020204" pitchFamily="34" charset="0"/>
              <a:buChar char="•"/>
            </a:pPr>
            <a:r>
              <a:rPr lang="en-US" sz="2700" spc="65" dirty="0">
                <a:solidFill>
                  <a:srgbClr val="000000"/>
                </a:solidFill>
                <a:latin typeface="Bitter"/>
                <a:ea typeface="Bitter"/>
                <a:cs typeface="Bitter"/>
                <a:sym typeface="Bitter"/>
              </a:rPr>
              <a:t>Bulk trash requests dominate</a:t>
            </a:r>
            <a:br>
              <a:rPr lang="en-US" sz="2700" spc="65" dirty="0">
                <a:solidFill>
                  <a:srgbClr val="000000"/>
                </a:solidFill>
                <a:latin typeface="Bitter"/>
                <a:ea typeface="Bitter"/>
                <a:cs typeface="Bitter"/>
                <a:sym typeface="Bitter"/>
              </a:rPr>
            </a:br>
            <a:endParaRPr lang="en-US" sz="2700" spc="65" dirty="0">
              <a:solidFill>
                <a:srgbClr val="000000"/>
              </a:solidFill>
              <a:latin typeface="Bitter"/>
              <a:ea typeface="Bitter"/>
              <a:cs typeface="Bitter"/>
            </a:endParaRPr>
          </a:p>
          <a:p>
            <a:pPr marL="457200" indent="-457200">
              <a:lnSpc>
                <a:spcPts val="3820"/>
              </a:lnSpc>
              <a:buFont typeface="Arial" panose="020B0604020202020204" pitchFamily="34" charset="0"/>
              <a:buChar char="•"/>
            </a:pPr>
            <a:r>
              <a:rPr lang="en-US" sz="2700" spc="65" dirty="0">
                <a:solidFill>
                  <a:srgbClr val="000000"/>
                </a:solidFill>
                <a:latin typeface="Bitter"/>
                <a:ea typeface="Bitter"/>
                <a:cs typeface="Bitter"/>
                <a:sym typeface="Bitter"/>
              </a:rPr>
              <a:t>Waste management-related complaints are most frequent</a:t>
            </a:r>
            <a:br>
              <a:rPr lang="en-US" sz="2700" spc="65" dirty="0">
                <a:solidFill>
                  <a:srgbClr val="000000"/>
                </a:solidFill>
                <a:latin typeface="Bitter"/>
                <a:ea typeface="Bitter"/>
                <a:cs typeface="Bitter"/>
                <a:sym typeface="Bitter"/>
              </a:rPr>
            </a:br>
            <a:endParaRPr lang="en-US" sz="2700" spc="65" dirty="0">
              <a:solidFill>
                <a:srgbClr val="000000"/>
              </a:solidFill>
              <a:latin typeface="Bitter"/>
              <a:ea typeface="Bitter"/>
              <a:cs typeface="Bitter"/>
            </a:endParaRPr>
          </a:p>
          <a:p>
            <a:pPr marL="457200" indent="-457200">
              <a:lnSpc>
                <a:spcPts val="3820"/>
              </a:lnSpc>
              <a:buFont typeface="Arial" panose="020B0604020202020204" pitchFamily="34" charset="0"/>
              <a:buChar char="•"/>
            </a:pPr>
            <a:r>
              <a:rPr lang="en-US" sz="2700" spc="65" dirty="0">
                <a:solidFill>
                  <a:srgbClr val="000000"/>
                </a:solidFill>
                <a:latin typeface="Bitter"/>
                <a:ea typeface="Bitter"/>
                <a:cs typeface="Bitter"/>
                <a:sym typeface="Bitter"/>
              </a:rPr>
              <a:t>Infrastructure issues (potholes, dumping) also common</a:t>
            </a:r>
            <a:br>
              <a:rPr lang="en-US" sz="2700" spc="65" dirty="0">
                <a:solidFill>
                  <a:srgbClr val="000000"/>
                </a:solidFill>
                <a:latin typeface="Bitter"/>
                <a:ea typeface="Bitter"/>
                <a:cs typeface="Bitter"/>
                <a:sym typeface="Bitter"/>
              </a:rPr>
            </a:br>
            <a:endParaRPr lang="en-US" sz="2700" spc="65" dirty="0">
              <a:solidFill>
                <a:srgbClr val="000000"/>
              </a:solidFill>
              <a:latin typeface="Bitter"/>
              <a:ea typeface="Bitter"/>
              <a:cs typeface="Bitter"/>
            </a:endParaRPr>
          </a:p>
          <a:p>
            <a:pPr marL="457200" indent="-457200" algn="l">
              <a:lnSpc>
                <a:spcPts val="3820"/>
              </a:lnSpc>
              <a:buFont typeface="Arial" panose="020B0604020202020204" pitchFamily="34" charset="0"/>
              <a:buChar char="•"/>
            </a:pPr>
            <a:r>
              <a:rPr lang="en-US" sz="2728" spc="65" dirty="0">
                <a:solidFill>
                  <a:srgbClr val="000000"/>
                </a:solidFill>
                <a:latin typeface="Bitter"/>
                <a:ea typeface="Bitter"/>
                <a:cs typeface="Bitter"/>
                <a:sym typeface="Bitter"/>
              </a:rPr>
              <a:t>Complaints focus on quality-of-life issues</a:t>
            </a:r>
          </a:p>
        </p:txBody>
      </p:sp>
      <p:pic>
        <p:nvPicPr>
          <p:cNvPr id="11" name="Picture 10" descr="A graph of a number of complaints&#10;&#10;AI-generated content may be incorrect.">
            <a:extLst>
              <a:ext uri="{FF2B5EF4-FFF2-40B4-BE49-F238E27FC236}">
                <a16:creationId xmlns:a16="http://schemas.microsoft.com/office/drawing/2014/main" id="{D0134E9A-9FDF-07FA-0BED-0F9735AE5522}"/>
              </a:ext>
            </a:extLst>
          </p:cNvPr>
          <p:cNvPicPr>
            <a:picLocks noChangeAspect="1"/>
          </p:cNvPicPr>
          <p:nvPr/>
        </p:nvPicPr>
        <p:blipFill>
          <a:blip r:embed="rId4"/>
          <a:stretch>
            <a:fillRect/>
          </a:stretch>
        </p:blipFill>
        <p:spPr>
          <a:xfrm>
            <a:off x="6406444" y="3466743"/>
            <a:ext cx="11613445" cy="6627292"/>
          </a:xfrm>
          <a:prstGeom prst="rect">
            <a:avLst/>
          </a:prstGeom>
        </p:spPr>
      </p:pic>
    </p:spTree>
    <p:extLst>
      <p:ext uri="{BB962C8B-B14F-4D97-AF65-F5344CB8AC3E}">
        <p14:creationId xmlns:p14="http://schemas.microsoft.com/office/powerpoint/2010/main" val="1755887296"/>
      </p:ext>
    </p:extLst>
  </p:cSld>
  <p:clrMapOvr>
    <a:masterClrMapping/>
  </p:clrMapOvr>
  <mc:AlternateContent xmlns:mc="http://schemas.openxmlformats.org/markup-compatibility/2006">
    <mc:Choice xmlns:p14="http://schemas.microsoft.com/office/powerpoint/2010/main" Requires="p14">
      <p:transition spd="slow" p14:dur="2000" advTm="31593"/>
    </mc:Choice>
    <mc:Fallback>
      <p:transition spd="slow" advTm="3159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sp>
        <p:nvSpPr>
          <p:cNvPr id="7" name="TextBox 7"/>
          <p:cNvSpPr txBox="1"/>
          <p:nvPr/>
        </p:nvSpPr>
        <p:spPr>
          <a:xfrm>
            <a:off x="304800" y="432318"/>
            <a:ext cx="7913795" cy="2718693"/>
          </a:xfrm>
          <a:prstGeom prst="rect">
            <a:avLst/>
          </a:prstGeom>
        </p:spPr>
        <p:txBody>
          <a:bodyPr lIns="0" tIns="0" rIns="0" bIns="0" rtlCol="0" anchor="t">
            <a:spAutoFit/>
          </a:bodyPr>
          <a:lstStyle/>
          <a:p>
            <a:pPr algn="l">
              <a:lnSpc>
                <a:spcPts val="10593"/>
              </a:lnSpc>
            </a:pPr>
            <a:r>
              <a:rPr lang="en-US" sz="9900" dirty="0">
                <a:solidFill>
                  <a:srgbClr val="000000"/>
                </a:solidFill>
                <a:latin typeface="Handelson Six"/>
                <a:ea typeface="Handelson Six"/>
                <a:cs typeface="Handelson Six"/>
                <a:sym typeface="Handelson Six"/>
              </a:rPr>
              <a:t>property crime trends</a:t>
            </a:r>
          </a:p>
        </p:txBody>
      </p:sp>
      <p:sp>
        <p:nvSpPr>
          <p:cNvPr id="8" name="TextBox 8"/>
          <p:cNvSpPr txBox="1"/>
          <p:nvPr/>
        </p:nvSpPr>
        <p:spPr>
          <a:xfrm>
            <a:off x="531824" y="3771900"/>
            <a:ext cx="6499568" cy="4356705"/>
          </a:xfrm>
          <a:prstGeom prst="rect">
            <a:avLst/>
          </a:prstGeom>
        </p:spPr>
        <p:txBody>
          <a:bodyPr lIns="0" tIns="0" rIns="0" bIns="0" rtlCol="0" anchor="t">
            <a:spAutoFit/>
          </a:bodyPr>
          <a:lstStyle/>
          <a:p>
            <a:pPr marL="457200" indent="-457200">
              <a:lnSpc>
                <a:spcPts val="3820"/>
              </a:lnSpc>
              <a:buFont typeface="Arial" panose="020B0604020202020204" pitchFamily="34" charset="0"/>
              <a:buChar char="•"/>
            </a:pPr>
            <a:r>
              <a:rPr lang="en-US" sz="2700" spc="65" dirty="0">
                <a:solidFill>
                  <a:srgbClr val="000000"/>
                </a:solidFill>
                <a:latin typeface="Bitter"/>
                <a:ea typeface="Bitter"/>
                <a:cs typeface="Bitter"/>
                <a:sym typeface="Bitter"/>
              </a:rPr>
              <a:t>Property crime steadily decreases (2017–2019)</a:t>
            </a:r>
            <a:br>
              <a:rPr lang="en-US" sz="2700" spc="65" dirty="0">
                <a:solidFill>
                  <a:srgbClr val="000000"/>
                </a:solidFill>
                <a:latin typeface="Bitter"/>
                <a:ea typeface="Bitter"/>
                <a:cs typeface="Bitter"/>
                <a:sym typeface="Bitter"/>
              </a:rPr>
            </a:br>
            <a:endParaRPr lang="en-US" sz="2700" spc="65" dirty="0">
              <a:solidFill>
                <a:srgbClr val="000000"/>
              </a:solidFill>
              <a:latin typeface="Bitter"/>
              <a:ea typeface="Bitter"/>
              <a:cs typeface="Bitter"/>
            </a:endParaRPr>
          </a:p>
          <a:p>
            <a:pPr marL="457200" indent="-457200">
              <a:lnSpc>
                <a:spcPts val="3820"/>
              </a:lnSpc>
              <a:buFont typeface="Arial" panose="020B0604020202020204" pitchFamily="34" charset="0"/>
              <a:buChar char="•"/>
            </a:pPr>
            <a:r>
              <a:rPr lang="en-US" sz="2700" spc="65" dirty="0">
                <a:solidFill>
                  <a:srgbClr val="000000"/>
                </a:solidFill>
                <a:latin typeface="Bitter"/>
                <a:ea typeface="Bitter"/>
                <a:cs typeface="Bitter"/>
                <a:sym typeface="Bitter"/>
              </a:rPr>
              <a:t>Largest drop between 2017 and 2018</a:t>
            </a:r>
            <a:br>
              <a:rPr lang="en-US" sz="2700" spc="65" dirty="0">
                <a:solidFill>
                  <a:srgbClr val="000000"/>
                </a:solidFill>
                <a:latin typeface="Bitter"/>
                <a:ea typeface="Bitter"/>
                <a:cs typeface="Bitter"/>
                <a:sym typeface="Bitter"/>
              </a:rPr>
            </a:br>
            <a:endParaRPr lang="en-US" sz="2700" spc="65" dirty="0">
              <a:solidFill>
                <a:srgbClr val="000000"/>
              </a:solidFill>
              <a:latin typeface="Bitter"/>
              <a:ea typeface="Bitter"/>
              <a:cs typeface="Bitter"/>
            </a:endParaRPr>
          </a:p>
          <a:p>
            <a:pPr marL="457200" indent="-457200">
              <a:lnSpc>
                <a:spcPts val="3820"/>
              </a:lnSpc>
              <a:buFont typeface="Arial" panose="020B0604020202020204" pitchFamily="34" charset="0"/>
              <a:buChar char="•"/>
            </a:pPr>
            <a:r>
              <a:rPr lang="en-US" sz="2700" spc="65" dirty="0">
                <a:solidFill>
                  <a:srgbClr val="000000"/>
                </a:solidFill>
                <a:latin typeface="Bitter"/>
                <a:ea typeface="Bitter"/>
                <a:cs typeface="Bitter"/>
                <a:sym typeface="Bitter"/>
              </a:rPr>
              <a:t>Continued slight decline into 2019</a:t>
            </a:r>
            <a:br>
              <a:rPr lang="en-US" sz="2700" spc="65" dirty="0">
                <a:solidFill>
                  <a:srgbClr val="000000"/>
                </a:solidFill>
                <a:latin typeface="Bitter"/>
                <a:ea typeface="Bitter"/>
                <a:cs typeface="Bitter"/>
                <a:sym typeface="Bitter"/>
              </a:rPr>
            </a:br>
            <a:endParaRPr lang="en-US" sz="2700" spc="65" dirty="0">
              <a:solidFill>
                <a:srgbClr val="000000"/>
              </a:solidFill>
              <a:latin typeface="Bitter"/>
              <a:ea typeface="Bitter"/>
              <a:cs typeface="Bitter"/>
            </a:endParaRPr>
          </a:p>
          <a:p>
            <a:pPr marL="457200" indent="-457200" algn="l">
              <a:lnSpc>
                <a:spcPts val="3820"/>
              </a:lnSpc>
              <a:buFont typeface="Arial" panose="020B0604020202020204" pitchFamily="34" charset="0"/>
              <a:buChar char="•"/>
            </a:pPr>
            <a:r>
              <a:rPr lang="en-US" sz="2728" spc="65" dirty="0">
                <a:solidFill>
                  <a:srgbClr val="000000"/>
                </a:solidFill>
                <a:latin typeface="Bitter"/>
                <a:ea typeface="Bitter"/>
                <a:cs typeface="Bitter"/>
                <a:sym typeface="Bitter"/>
              </a:rPr>
              <a:t>Overall downward trend</a:t>
            </a:r>
          </a:p>
        </p:txBody>
      </p:sp>
      <p:pic>
        <p:nvPicPr>
          <p:cNvPr id="10" name="Picture 9" descr="A graph with a line and a dotted line&#10;&#10;AI-generated content may be incorrect.">
            <a:extLst>
              <a:ext uri="{FF2B5EF4-FFF2-40B4-BE49-F238E27FC236}">
                <a16:creationId xmlns:a16="http://schemas.microsoft.com/office/drawing/2014/main" id="{98E33B50-AE83-2965-3A25-145FE385C8EF}"/>
              </a:ext>
            </a:extLst>
          </p:cNvPr>
          <p:cNvPicPr>
            <a:picLocks noChangeAspect="1"/>
          </p:cNvPicPr>
          <p:nvPr/>
        </p:nvPicPr>
        <p:blipFill>
          <a:blip r:embed="rId4"/>
          <a:stretch>
            <a:fillRect/>
          </a:stretch>
        </p:blipFill>
        <p:spPr>
          <a:xfrm>
            <a:off x="7563215" y="1001887"/>
            <a:ext cx="10725126" cy="86642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665"/>
    </mc:Choice>
    <mc:Fallback>
      <p:transition spd="slow" advTm="2366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sp>
        <p:nvSpPr>
          <p:cNvPr id="5" name="TextBox 5"/>
          <p:cNvSpPr txBox="1"/>
          <p:nvPr/>
        </p:nvSpPr>
        <p:spPr>
          <a:xfrm>
            <a:off x="929457" y="2365552"/>
            <a:ext cx="6979720" cy="3731791"/>
          </a:xfrm>
          <a:prstGeom prst="rect">
            <a:avLst/>
          </a:prstGeom>
        </p:spPr>
        <p:txBody>
          <a:bodyPr lIns="0" tIns="0" rIns="0" bIns="0" rtlCol="0" anchor="t">
            <a:spAutoFit/>
          </a:bodyPr>
          <a:lstStyle/>
          <a:p>
            <a:pPr algn="l">
              <a:lnSpc>
                <a:spcPts val="9686"/>
              </a:lnSpc>
            </a:pPr>
            <a:r>
              <a:rPr lang="en-US" sz="9224" dirty="0">
                <a:solidFill>
                  <a:srgbClr val="000000"/>
                </a:solidFill>
                <a:latin typeface="Handelson Six"/>
                <a:ea typeface="Handelson Six"/>
                <a:cs typeface="Handelson Six"/>
                <a:sym typeface="Handelson Six"/>
              </a:rPr>
              <a:t>complaints vs crime comparison</a:t>
            </a:r>
          </a:p>
        </p:txBody>
      </p:sp>
      <p:sp>
        <p:nvSpPr>
          <p:cNvPr id="6" name="TextBox 6"/>
          <p:cNvSpPr txBox="1"/>
          <p:nvPr/>
        </p:nvSpPr>
        <p:spPr>
          <a:xfrm>
            <a:off x="969043" y="6334257"/>
            <a:ext cx="6809492" cy="2759666"/>
          </a:xfrm>
          <a:prstGeom prst="rect">
            <a:avLst/>
          </a:prstGeom>
        </p:spPr>
        <p:txBody>
          <a:bodyPr lIns="0" tIns="0" rIns="0" bIns="0" rtlCol="0" anchor="t">
            <a:spAutoFit/>
          </a:bodyPr>
          <a:lstStyle/>
          <a:p>
            <a:pPr marL="342900" indent="-342900">
              <a:lnSpc>
                <a:spcPts val="3142"/>
              </a:lnSpc>
              <a:buFont typeface="Arial" panose="020B0604020202020204" pitchFamily="34" charset="0"/>
              <a:buChar char="•"/>
            </a:pPr>
            <a:r>
              <a:rPr lang="en-US" sz="2200" spc="53" dirty="0">
                <a:solidFill>
                  <a:srgbClr val="000000"/>
                </a:solidFill>
                <a:latin typeface="Bitter"/>
                <a:ea typeface="Bitter"/>
                <a:cs typeface="Bitter"/>
                <a:sym typeface="Bitter"/>
              </a:rPr>
              <a:t>311 requests remain relatively stable</a:t>
            </a:r>
            <a:br>
              <a:rPr lang="en-US" dirty="0">
                <a:sym typeface="Bitter"/>
              </a:rPr>
            </a:br>
            <a:endParaRPr lang="en-US" sz="2200" spc="53" dirty="0">
              <a:solidFill>
                <a:srgbClr val="000000"/>
              </a:solidFill>
              <a:latin typeface="Bitter"/>
              <a:ea typeface="Bitter"/>
              <a:cs typeface="Bitter"/>
            </a:endParaRPr>
          </a:p>
          <a:p>
            <a:pPr marL="342900" indent="-342900">
              <a:lnSpc>
                <a:spcPts val="3142"/>
              </a:lnSpc>
              <a:buFont typeface="Arial" panose="020B0604020202020204" pitchFamily="34" charset="0"/>
              <a:buChar char="•"/>
            </a:pPr>
            <a:r>
              <a:rPr lang="en-US" sz="2200" spc="53" dirty="0">
                <a:solidFill>
                  <a:srgbClr val="000000"/>
                </a:solidFill>
                <a:latin typeface="Bitter"/>
                <a:ea typeface="Bitter"/>
                <a:cs typeface="Bitter"/>
                <a:sym typeface="Bitter"/>
              </a:rPr>
              <a:t>Property crime declines over time</a:t>
            </a:r>
            <a:br>
              <a:rPr lang="en-US" sz="2200" spc="53" dirty="0">
                <a:solidFill>
                  <a:srgbClr val="000000"/>
                </a:solidFill>
                <a:latin typeface="Bitter"/>
                <a:ea typeface="Bitter"/>
                <a:cs typeface="Bitter"/>
                <a:sym typeface="Bitter"/>
              </a:rPr>
            </a:br>
            <a:endParaRPr lang="en-US" sz="2200" spc="53" dirty="0">
              <a:solidFill>
                <a:srgbClr val="000000"/>
              </a:solidFill>
              <a:latin typeface="Bitter"/>
              <a:ea typeface="Bitter"/>
              <a:cs typeface="Bitter"/>
            </a:endParaRPr>
          </a:p>
          <a:p>
            <a:pPr marL="342900" indent="-342900">
              <a:lnSpc>
                <a:spcPts val="3142"/>
              </a:lnSpc>
              <a:buFont typeface="Arial" panose="020B0604020202020204" pitchFamily="34" charset="0"/>
              <a:buChar char="•"/>
            </a:pPr>
            <a:r>
              <a:rPr lang="en-US" sz="2200" spc="53" dirty="0">
                <a:solidFill>
                  <a:srgbClr val="000000"/>
                </a:solidFill>
                <a:latin typeface="Bitter"/>
                <a:ea typeface="Bitter"/>
                <a:cs typeface="Bitter"/>
                <a:sym typeface="Bitter"/>
              </a:rPr>
              <a:t>Trends do not move together</a:t>
            </a:r>
            <a:br>
              <a:rPr lang="en-US" sz="2200" spc="53" dirty="0">
                <a:solidFill>
                  <a:srgbClr val="000000"/>
                </a:solidFill>
                <a:latin typeface="Bitter"/>
                <a:ea typeface="Bitter"/>
                <a:cs typeface="Bitter"/>
              </a:rPr>
            </a:br>
            <a:endParaRPr lang="en-US" sz="2200" spc="53" dirty="0">
              <a:solidFill>
                <a:srgbClr val="000000"/>
              </a:solidFill>
              <a:latin typeface="Bitter"/>
              <a:ea typeface="Bitter"/>
              <a:cs typeface="Bitter"/>
            </a:endParaRPr>
          </a:p>
          <a:p>
            <a:pPr marL="342900" indent="-342900" algn="l">
              <a:lnSpc>
                <a:spcPts val="3142"/>
              </a:lnSpc>
              <a:buFont typeface="Arial" panose="020B0604020202020204" pitchFamily="34" charset="0"/>
              <a:buChar char="•"/>
            </a:pPr>
            <a:r>
              <a:rPr lang="en-US" sz="2244" spc="53" dirty="0">
                <a:solidFill>
                  <a:srgbClr val="000000"/>
                </a:solidFill>
                <a:latin typeface="Bitter"/>
                <a:ea typeface="Bitter"/>
                <a:cs typeface="Bitter"/>
                <a:sym typeface="Bitter"/>
              </a:rPr>
              <a:t>Suggests weak or indirect relationship</a:t>
            </a:r>
          </a:p>
        </p:txBody>
      </p:sp>
      <p:sp>
        <p:nvSpPr>
          <p:cNvPr id="8" name="Freeform 8"/>
          <p:cNvSpPr/>
          <p:nvPr/>
        </p:nvSpPr>
        <p:spPr>
          <a:xfrm rot="-861227">
            <a:off x="-6725583" y="528394"/>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rot="-861227">
            <a:off x="6397826" y="8918098"/>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11" name="Picture 10" descr="A graph of a crime&#10;&#10;AI-generated content may be incorrect.">
            <a:extLst>
              <a:ext uri="{FF2B5EF4-FFF2-40B4-BE49-F238E27FC236}">
                <a16:creationId xmlns:a16="http://schemas.microsoft.com/office/drawing/2014/main" id="{BB3064DE-3E0E-1D6F-7C2A-2B8AEDADAB81}"/>
              </a:ext>
            </a:extLst>
          </p:cNvPr>
          <p:cNvPicPr>
            <a:picLocks noChangeAspect="1"/>
          </p:cNvPicPr>
          <p:nvPr/>
        </p:nvPicPr>
        <p:blipFill>
          <a:blip r:embed="rId5"/>
          <a:stretch>
            <a:fillRect/>
          </a:stretch>
        </p:blipFill>
        <p:spPr>
          <a:xfrm>
            <a:off x="7633772" y="366888"/>
            <a:ext cx="10019569" cy="81844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456"/>
    </mc:Choice>
    <mc:Fallback>
      <p:transition spd="slow" advTm="64456"/>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5C29D-87E0-5B7A-0783-BD5AE70D427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396B1FC-DDD6-A623-0732-C1B103917F6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sp>
        <p:nvSpPr>
          <p:cNvPr id="3" name="TextBox 3">
            <a:extLst>
              <a:ext uri="{FF2B5EF4-FFF2-40B4-BE49-F238E27FC236}">
                <a16:creationId xmlns:a16="http://schemas.microsoft.com/office/drawing/2014/main" id="{FE22E590-2C35-F3DA-BA38-712462AF7B3A}"/>
              </a:ext>
            </a:extLst>
          </p:cNvPr>
          <p:cNvSpPr txBox="1"/>
          <p:nvPr/>
        </p:nvSpPr>
        <p:spPr>
          <a:xfrm>
            <a:off x="990600" y="1167369"/>
            <a:ext cx="15112735" cy="1320874"/>
          </a:xfrm>
          <a:prstGeom prst="rect">
            <a:avLst/>
          </a:prstGeom>
        </p:spPr>
        <p:txBody>
          <a:bodyPr wrap="square" lIns="0" tIns="0" rIns="0" bIns="0" rtlCol="0" anchor="t">
            <a:spAutoFit/>
          </a:bodyPr>
          <a:lstStyle/>
          <a:p>
            <a:pPr algn="l">
              <a:lnSpc>
                <a:spcPts val="10338"/>
              </a:lnSpc>
            </a:pPr>
            <a:r>
              <a:rPr lang="en-US" sz="8761">
                <a:solidFill>
                  <a:srgbClr val="FFFFFF"/>
                </a:solidFill>
                <a:latin typeface="Handelson Six"/>
                <a:ea typeface="Handelson Six"/>
                <a:cs typeface="Handelson Six"/>
                <a:sym typeface="Handelson Six"/>
              </a:rPr>
              <a:t>complaint themes</a:t>
            </a:r>
          </a:p>
        </p:txBody>
      </p:sp>
      <p:sp>
        <p:nvSpPr>
          <p:cNvPr id="4" name="TextBox 4">
            <a:extLst>
              <a:ext uri="{FF2B5EF4-FFF2-40B4-BE49-F238E27FC236}">
                <a16:creationId xmlns:a16="http://schemas.microsoft.com/office/drawing/2014/main" id="{2D37EF2B-27B3-8197-15C4-9C9DE947E27C}"/>
              </a:ext>
            </a:extLst>
          </p:cNvPr>
          <p:cNvSpPr txBox="1"/>
          <p:nvPr/>
        </p:nvSpPr>
        <p:spPr>
          <a:xfrm>
            <a:off x="1002117" y="5143500"/>
            <a:ext cx="6339898" cy="3781100"/>
          </a:xfrm>
          <a:prstGeom prst="rect">
            <a:avLst/>
          </a:prstGeom>
        </p:spPr>
        <p:txBody>
          <a:bodyPr lIns="0" tIns="0" rIns="0" bIns="0" rtlCol="0" anchor="t">
            <a:spAutoFit/>
          </a:bodyPr>
          <a:lstStyle/>
          <a:p>
            <a:pPr marL="342900" indent="-342900">
              <a:lnSpc>
                <a:spcPts val="3286"/>
              </a:lnSpc>
              <a:buFont typeface="Arial" panose="020B0604020202020204" pitchFamily="34" charset="0"/>
              <a:buChar char="•"/>
            </a:pPr>
            <a:r>
              <a:rPr lang="en-US" sz="2800" spc="56" dirty="0">
                <a:solidFill>
                  <a:srgbClr val="FFFFFF"/>
                </a:solidFill>
                <a:latin typeface="Bitter"/>
                <a:ea typeface="Bitter"/>
                <a:cs typeface="Bitter"/>
                <a:sym typeface="Bitter"/>
              </a:rPr>
              <a:t>Word frequencies in both issue_type and case_owner_description columns</a:t>
            </a:r>
            <a:br>
              <a:rPr lang="en-US" sz="2800" spc="56" dirty="0">
                <a:solidFill>
                  <a:srgbClr val="FFFFFF"/>
                </a:solidFill>
                <a:latin typeface="Bitter"/>
                <a:ea typeface="Bitter"/>
                <a:cs typeface="Bitter"/>
                <a:sym typeface="Bitter"/>
              </a:rPr>
            </a:br>
            <a:endParaRPr lang="en-US" sz="2800" spc="56" dirty="0">
              <a:solidFill>
                <a:srgbClr val="FFFFFF"/>
              </a:solidFill>
              <a:latin typeface="Bitter"/>
              <a:ea typeface="Bitter"/>
              <a:cs typeface="Bitter"/>
            </a:endParaRPr>
          </a:p>
          <a:p>
            <a:pPr marL="342900" indent="-342900">
              <a:lnSpc>
                <a:spcPts val="3286"/>
              </a:lnSpc>
              <a:buFont typeface="Arial"/>
              <a:buChar char="•"/>
            </a:pPr>
            <a:r>
              <a:rPr lang="en-US" sz="2800" spc="56" dirty="0">
                <a:solidFill>
                  <a:srgbClr val="FFFFFF"/>
                </a:solidFill>
                <a:latin typeface="Bitter"/>
                <a:ea typeface="Bitter"/>
                <a:cs typeface="Bitter"/>
              </a:rPr>
              <a:t>This helps compare how citizens express their issues vs how the department categorizes them.</a:t>
            </a:r>
          </a:p>
          <a:p>
            <a:pPr marL="342900" indent="-342900">
              <a:lnSpc>
                <a:spcPts val="3286"/>
              </a:lnSpc>
              <a:buFont typeface="Arial" panose="020B0604020202020204" pitchFamily="34" charset="0"/>
              <a:buChar char="•"/>
            </a:pPr>
            <a:r>
              <a:rPr lang="en-US" sz="2300" spc="56" dirty="0">
                <a:latin typeface="Bitter"/>
                <a:ea typeface="Bitter"/>
                <a:cs typeface="Bitter"/>
              </a:rPr>
              <a:t>h</a:t>
            </a:r>
            <a:br>
              <a:rPr lang="en-US" sz="2300" spc="56" dirty="0">
                <a:latin typeface="Bitter"/>
                <a:ea typeface="Bitter"/>
                <a:cs typeface="Bitter"/>
              </a:rPr>
            </a:br>
            <a:endParaRPr lang="en-US" sz="2300" spc="56" dirty="0">
              <a:solidFill>
                <a:srgbClr val="FFFFFF"/>
              </a:solidFill>
              <a:latin typeface="Bitter"/>
              <a:ea typeface="Bitter"/>
              <a:cs typeface="Bitter"/>
            </a:endParaRPr>
          </a:p>
        </p:txBody>
      </p:sp>
      <p:sp>
        <p:nvSpPr>
          <p:cNvPr id="5" name="TextBox 5">
            <a:extLst>
              <a:ext uri="{FF2B5EF4-FFF2-40B4-BE49-F238E27FC236}">
                <a16:creationId xmlns:a16="http://schemas.microsoft.com/office/drawing/2014/main" id="{E28501FC-33FA-E176-433D-B03253BA5514}"/>
              </a:ext>
            </a:extLst>
          </p:cNvPr>
          <p:cNvSpPr txBox="1"/>
          <p:nvPr/>
        </p:nvSpPr>
        <p:spPr>
          <a:xfrm>
            <a:off x="986877" y="2570605"/>
            <a:ext cx="6651759" cy="1215910"/>
          </a:xfrm>
          <a:prstGeom prst="rect">
            <a:avLst/>
          </a:prstGeom>
        </p:spPr>
        <p:txBody>
          <a:bodyPr lIns="0" tIns="0" rIns="0" bIns="0" rtlCol="0" anchor="t">
            <a:spAutoFit/>
          </a:bodyPr>
          <a:lstStyle/>
          <a:p>
            <a:pPr algn="l">
              <a:lnSpc>
                <a:spcPts val="10338"/>
              </a:lnSpc>
            </a:pPr>
            <a:r>
              <a:rPr lang="en-US" sz="7200">
                <a:solidFill>
                  <a:srgbClr val="FFFFFF"/>
                </a:solidFill>
                <a:latin typeface="Handelson Six"/>
                <a:ea typeface="Handelson Six"/>
                <a:cs typeface="Handelson Six"/>
                <a:sym typeface="Handelson Six"/>
              </a:rPr>
              <a:t>TEXT MINING</a:t>
            </a:r>
          </a:p>
        </p:txBody>
      </p:sp>
      <p:pic>
        <p:nvPicPr>
          <p:cNvPr id="7" name="Picture 6">
            <a:extLst>
              <a:ext uri="{FF2B5EF4-FFF2-40B4-BE49-F238E27FC236}">
                <a16:creationId xmlns:a16="http://schemas.microsoft.com/office/drawing/2014/main" id="{201E29EC-C239-88E3-CC07-CE7B03387B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79374" y="5486298"/>
            <a:ext cx="6941472" cy="4283880"/>
          </a:xfrm>
          <a:prstGeom prst="rect">
            <a:avLst/>
          </a:prstGeom>
        </p:spPr>
      </p:pic>
      <p:pic>
        <p:nvPicPr>
          <p:cNvPr id="11" name="Picture 10">
            <a:extLst>
              <a:ext uri="{FF2B5EF4-FFF2-40B4-BE49-F238E27FC236}">
                <a16:creationId xmlns:a16="http://schemas.microsoft.com/office/drawing/2014/main" id="{2282CA20-9494-5361-54C1-4A497BD4DE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79374" y="685597"/>
            <a:ext cx="6941472" cy="4283879"/>
          </a:xfrm>
          <a:prstGeom prst="rect">
            <a:avLst/>
          </a:prstGeom>
        </p:spPr>
      </p:pic>
    </p:spTree>
    <p:extLst>
      <p:ext uri="{BB962C8B-B14F-4D97-AF65-F5344CB8AC3E}">
        <p14:creationId xmlns:p14="http://schemas.microsoft.com/office/powerpoint/2010/main" val="3092333034"/>
      </p:ext>
    </p:extLst>
  </p:cSld>
  <p:clrMapOvr>
    <a:masterClrMapping/>
  </p:clrMapOvr>
  <mc:AlternateContent xmlns:mc="http://schemas.openxmlformats.org/markup-compatibility/2006">
    <mc:Choice xmlns:p14="http://schemas.microsoft.com/office/powerpoint/2010/main" Requires="p14">
      <p:transition spd="slow" p14:dur="2000" advTm="64641"/>
    </mc:Choice>
    <mc:Fallback>
      <p:transition spd="slow" advTm="6464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B2DB9-107B-7CC6-CA91-44CFCFD2C2A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01311D3-286A-4C7C-C940-B10A486C013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sp>
        <p:nvSpPr>
          <p:cNvPr id="3" name="TextBox 3">
            <a:extLst>
              <a:ext uri="{FF2B5EF4-FFF2-40B4-BE49-F238E27FC236}">
                <a16:creationId xmlns:a16="http://schemas.microsoft.com/office/drawing/2014/main" id="{01EB44C6-AB0D-360E-B086-04BCA9CCC722}"/>
              </a:ext>
            </a:extLst>
          </p:cNvPr>
          <p:cNvSpPr txBox="1"/>
          <p:nvPr/>
        </p:nvSpPr>
        <p:spPr>
          <a:xfrm>
            <a:off x="1068888" y="760273"/>
            <a:ext cx="15112735" cy="1320874"/>
          </a:xfrm>
          <a:prstGeom prst="rect">
            <a:avLst/>
          </a:prstGeom>
        </p:spPr>
        <p:txBody>
          <a:bodyPr wrap="square" lIns="0" tIns="0" rIns="0" bIns="0" rtlCol="0" anchor="t">
            <a:spAutoFit/>
          </a:bodyPr>
          <a:lstStyle/>
          <a:p>
            <a:pPr algn="l">
              <a:lnSpc>
                <a:spcPts val="10338"/>
              </a:lnSpc>
            </a:pPr>
            <a:r>
              <a:rPr lang="en-US" sz="8761">
                <a:solidFill>
                  <a:srgbClr val="FFFFFF"/>
                </a:solidFill>
                <a:latin typeface="Handelson Six"/>
                <a:ea typeface="Handelson Six"/>
                <a:cs typeface="Handelson Six"/>
                <a:sym typeface="Handelson Six"/>
              </a:rPr>
              <a:t>complaint themes</a:t>
            </a:r>
          </a:p>
        </p:txBody>
      </p:sp>
      <p:sp>
        <p:nvSpPr>
          <p:cNvPr id="4" name="TextBox 4">
            <a:extLst>
              <a:ext uri="{FF2B5EF4-FFF2-40B4-BE49-F238E27FC236}">
                <a16:creationId xmlns:a16="http://schemas.microsoft.com/office/drawing/2014/main" id="{E4C46B54-2A37-7EAF-2D8E-870DA5E1509D}"/>
              </a:ext>
            </a:extLst>
          </p:cNvPr>
          <p:cNvSpPr txBox="1"/>
          <p:nvPr/>
        </p:nvSpPr>
        <p:spPr>
          <a:xfrm>
            <a:off x="1397906" y="3278571"/>
            <a:ext cx="6339898" cy="1241943"/>
          </a:xfrm>
          <a:prstGeom prst="rect">
            <a:avLst/>
          </a:prstGeom>
        </p:spPr>
        <p:txBody>
          <a:bodyPr lIns="0" tIns="0" rIns="0" bIns="0" rtlCol="0" anchor="t">
            <a:spAutoFit/>
          </a:bodyPr>
          <a:lstStyle/>
          <a:p>
            <a:pPr marL="342900" indent="-342900">
              <a:lnSpc>
                <a:spcPts val="3286"/>
              </a:lnSpc>
              <a:buFont typeface="Arial" panose="020B0604020202020204" pitchFamily="34" charset="0"/>
              <a:buChar char="•"/>
            </a:pPr>
            <a:endParaRPr lang="en-US" sz="2600" spc="56">
              <a:solidFill>
                <a:srgbClr val="FFFFFF"/>
              </a:solidFill>
              <a:latin typeface="Bitter"/>
              <a:ea typeface="Bitter"/>
              <a:cs typeface="Bitter"/>
            </a:endParaRPr>
          </a:p>
          <a:p>
            <a:pPr marL="342900" indent="-342900">
              <a:lnSpc>
                <a:spcPts val="3286"/>
              </a:lnSpc>
              <a:buFont typeface="Arial" panose="020B0604020202020204" pitchFamily="34" charset="0"/>
              <a:buChar char="•"/>
            </a:pPr>
            <a:r>
              <a:rPr lang="en-US" sz="2300" spc="56">
                <a:latin typeface="Bitter"/>
                <a:ea typeface="Bitter"/>
                <a:cs typeface="Bitter"/>
              </a:rPr>
              <a:t>h</a:t>
            </a:r>
            <a:br>
              <a:rPr lang="en-US" sz="2300" spc="56">
                <a:latin typeface="Bitter"/>
                <a:ea typeface="Bitter"/>
                <a:cs typeface="Bitter"/>
                <a:sym typeface="Bitter"/>
              </a:rPr>
            </a:br>
            <a:endParaRPr lang="en-US" sz="2300" spc="56">
              <a:solidFill>
                <a:srgbClr val="FFFFFF"/>
              </a:solidFill>
              <a:latin typeface="Bitter"/>
              <a:ea typeface="Bitter"/>
              <a:cs typeface="Bitter"/>
            </a:endParaRPr>
          </a:p>
        </p:txBody>
      </p:sp>
      <p:sp>
        <p:nvSpPr>
          <p:cNvPr id="8" name="TextBox 7">
            <a:extLst>
              <a:ext uri="{FF2B5EF4-FFF2-40B4-BE49-F238E27FC236}">
                <a16:creationId xmlns:a16="http://schemas.microsoft.com/office/drawing/2014/main" id="{75C4BFA9-5104-6AC7-D253-4FD916AB7A7F}"/>
              </a:ext>
            </a:extLst>
          </p:cNvPr>
          <p:cNvSpPr txBox="1"/>
          <p:nvPr/>
        </p:nvSpPr>
        <p:spPr>
          <a:xfrm>
            <a:off x="1068888" y="2452992"/>
            <a:ext cx="7445229"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600" dirty="0">
                <a:solidFill>
                  <a:schemeClr val="bg1"/>
                </a:solidFill>
                <a:latin typeface="Bitter"/>
                <a:ea typeface="Calibri"/>
                <a:cs typeface="Calibri"/>
              </a:rPr>
              <a:t>TF-IDF Time Based Comparison shows importance of words used throughout the three years of data.</a:t>
            </a:r>
            <a:br>
              <a:rPr lang="en-US" sz="2600" dirty="0">
                <a:solidFill>
                  <a:schemeClr val="bg1"/>
                </a:solidFill>
                <a:latin typeface="Bitter"/>
                <a:ea typeface="Calibri"/>
                <a:cs typeface="Calibri"/>
              </a:rPr>
            </a:br>
            <a:endParaRPr lang="en-US" sz="2600" dirty="0">
              <a:solidFill>
                <a:schemeClr val="bg1"/>
              </a:solidFill>
              <a:latin typeface="Bitter"/>
              <a:ea typeface="Calibri"/>
              <a:cs typeface="Calibri"/>
            </a:endParaRPr>
          </a:p>
          <a:p>
            <a:pPr marL="285750" indent="-285750">
              <a:buFont typeface="Arial"/>
              <a:buChar char="•"/>
            </a:pPr>
            <a:r>
              <a:rPr lang="en-US" sz="2600" dirty="0">
                <a:solidFill>
                  <a:schemeClr val="bg1"/>
                </a:solidFill>
                <a:latin typeface="Bitter"/>
                <a:ea typeface="Calibri"/>
                <a:cs typeface="Calibri"/>
              </a:rPr>
              <a:t>Citizen Issue vs Department Description Word Frequency shows frequency of words used by both parties.</a:t>
            </a:r>
          </a:p>
        </p:txBody>
      </p:sp>
      <p:pic>
        <p:nvPicPr>
          <p:cNvPr id="9" name="Picture 8">
            <a:extLst>
              <a:ext uri="{FF2B5EF4-FFF2-40B4-BE49-F238E27FC236}">
                <a16:creationId xmlns:a16="http://schemas.microsoft.com/office/drawing/2014/main" id="{12B6A2F3-D0B6-090F-FEDC-AE5FCCA08D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41850" y="2208379"/>
            <a:ext cx="7493028" cy="4624269"/>
          </a:xfrm>
          <a:prstGeom prst="rect">
            <a:avLst/>
          </a:prstGeom>
        </p:spPr>
      </p:pic>
      <p:pic>
        <p:nvPicPr>
          <p:cNvPr id="13" name="Picture 12">
            <a:extLst>
              <a:ext uri="{FF2B5EF4-FFF2-40B4-BE49-F238E27FC236}">
                <a16:creationId xmlns:a16="http://schemas.microsoft.com/office/drawing/2014/main" id="{8A6CDCB0-4E30-B030-73C4-05E7F6CF11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71800" y="5717937"/>
            <a:ext cx="6894114" cy="4254653"/>
          </a:xfrm>
          <a:prstGeom prst="rect">
            <a:avLst/>
          </a:prstGeom>
        </p:spPr>
      </p:pic>
    </p:spTree>
    <p:extLst>
      <p:ext uri="{BB962C8B-B14F-4D97-AF65-F5344CB8AC3E}">
        <p14:creationId xmlns:p14="http://schemas.microsoft.com/office/powerpoint/2010/main" val="3622763288"/>
      </p:ext>
    </p:extLst>
  </p:cSld>
  <p:clrMapOvr>
    <a:masterClrMapping/>
  </p:clrMapOvr>
  <mc:AlternateContent xmlns:mc="http://schemas.openxmlformats.org/markup-compatibility/2006">
    <mc:Choice xmlns:p14="http://schemas.microsoft.com/office/powerpoint/2010/main" Requires="p14">
      <p:transition spd="slow" p14:dur="2000" advTm="54658"/>
    </mc:Choice>
    <mc:Fallback>
      <p:transition spd="slow" advTm="5465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3BBE9-B34E-0EFD-A1BA-7F1FEB083D2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507A2E1-F285-83D1-778E-19D0640B238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grpSp>
        <p:nvGrpSpPr>
          <p:cNvPr id="3" name="Group 3">
            <a:extLst>
              <a:ext uri="{FF2B5EF4-FFF2-40B4-BE49-F238E27FC236}">
                <a16:creationId xmlns:a16="http://schemas.microsoft.com/office/drawing/2014/main" id="{43547088-04A5-E03C-D5D7-14A001D66402}"/>
              </a:ext>
            </a:extLst>
          </p:cNvPr>
          <p:cNvGrpSpPr/>
          <p:nvPr/>
        </p:nvGrpSpPr>
        <p:grpSpPr>
          <a:xfrm rot="317401">
            <a:off x="11489983" y="1124981"/>
            <a:ext cx="4543772" cy="5446198"/>
            <a:chOff x="0" y="0"/>
            <a:chExt cx="1049659" cy="1258129"/>
          </a:xfrm>
        </p:grpSpPr>
        <p:sp>
          <p:nvSpPr>
            <p:cNvPr id="4" name="Freeform 4">
              <a:extLst>
                <a:ext uri="{FF2B5EF4-FFF2-40B4-BE49-F238E27FC236}">
                  <a16:creationId xmlns:a16="http://schemas.microsoft.com/office/drawing/2014/main" id="{1E2C19EB-70CC-2E6F-5F0C-B48BD62F6A59}"/>
                </a:ext>
              </a:extLst>
            </p:cNvPr>
            <p:cNvSpPr/>
            <p:nvPr/>
          </p:nvSpPr>
          <p:spPr>
            <a:xfrm>
              <a:off x="0" y="0"/>
              <a:ext cx="1049659" cy="1258129"/>
            </a:xfrm>
            <a:custGeom>
              <a:avLst/>
              <a:gdLst/>
              <a:ahLst/>
              <a:cxnLst/>
              <a:rect l="l" t="t" r="r" b="b"/>
              <a:pathLst>
                <a:path w="1049659" h="1258129">
                  <a:moveTo>
                    <a:pt x="0" y="0"/>
                  </a:moveTo>
                  <a:lnTo>
                    <a:pt x="1049659" y="0"/>
                  </a:lnTo>
                  <a:lnTo>
                    <a:pt x="1049659" y="1258129"/>
                  </a:lnTo>
                  <a:lnTo>
                    <a:pt x="0" y="1258129"/>
                  </a:lnTo>
                  <a:close/>
                </a:path>
              </a:pathLst>
            </a:custGeom>
            <a:blipFill>
              <a:blip r:embed="rId4"/>
              <a:stretch>
                <a:fillRect l="-39895" r="-39895"/>
              </a:stretch>
            </a:blipFill>
            <a:ln w="47625" cap="sq">
              <a:solidFill>
                <a:srgbClr val="FFFFFF"/>
              </a:solidFill>
              <a:prstDash val="solid"/>
              <a:miter/>
            </a:ln>
          </p:spPr>
          <p:txBody>
            <a:bodyPr/>
            <a:lstStyle/>
            <a:p>
              <a:endParaRPr lang="en-US"/>
            </a:p>
          </p:txBody>
        </p:sp>
      </p:grpSp>
      <p:grpSp>
        <p:nvGrpSpPr>
          <p:cNvPr id="5" name="Group 5">
            <a:extLst>
              <a:ext uri="{FF2B5EF4-FFF2-40B4-BE49-F238E27FC236}">
                <a16:creationId xmlns:a16="http://schemas.microsoft.com/office/drawing/2014/main" id="{9E6B060E-1B26-CBEE-CB6A-DF755DDEB319}"/>
              </a:ext>
            </a:extLst>
          </p:cNvPr>
          <p:cNvGrpSpPr/>
          <p:nvPr/>
        </p:nvGrpSpPr>
        <p:grpSpPr>
          <a:xfrm rot="21480545">
            <a:off x="14485590" y="4001670"/>
            <a:ext cx="3579103" cy="4325833"/>
            <a:chOff x="0" y="0"/>
            <a:chExt cx="547024" cy="661152"/>
          </a:xfrm>
        </p:grpSpPr>
        <p:sp>
          <p:nvSpPr>
            <p:cNvPr id="6" name="Freeform 6">
              <a:extLst>
                <a:ext uri="{FF2B5EF4-FFF2-40B4-BE49-F238E27FC236}">
                  <a16:creationId xmlns:a16="http://schemas.microsoft.com/office/drawing/2014/main" id="{DC08F8AE-E758-F6F5-1503-087927D6AFD9}"/>
                </a:ext>
              </a:extLst>
            </p:cNvPr>
            <p:cNvSpPr/>
            <p:nvPr/>
          </p:nvSpPr>
          <p:spPr>
            <a:xfrm>
              <a:off x="0" y="0"/>
              <a:ext cx="547024" cy="661152"/>
            </a:xfrm>
            <a:custGeom>
              <a:avLst/>
              <a:gdLst/>
              <a:ahLst/>
              <a:cxnLst/>
              <a:rect l="l" t="t" r="r" b="b"/>
              <a:pathLst>
                <a:path w="547024" h="661152">
                  <a:moveTo>
                    <a:pt x="0" y="0"/>
                  </a:moveTo>
                  <a:lnTo>
                    <a:pt x="547024" y="0"/>
                  </a:lnTo>
                  <a:lnTo>
                    <a:pt x="547024" y="661152"/>
                  </a:lnTo>
                  <a:lnTo>
                    <a:pt x="0" y="661152"/>
                  </a:lnTo>
                  <a:close/>
                </a:path>
              </a:pathLst>
            </a:custGeom>
            <a:blipFill>
              <a:blip r:embed="rId5"/>
              <a:stretch>
                <a:fillRect l="-40704" r="-40704"/>
              </a:stretch>
            </a:blipFill>
            <a:ln w="47625" cap="sq">
              <a:solidFill>
                <a:srgbClr val="FFFFFF"/>
              </a:solidFill>
              <a:prstDash val="solid"/>
              <a:miter/>
            </a:ln>
          </p:spPr>
          <p:txBody>
            <a:bodyPr/>
            <a:lstStyle/>
            <a:p>
              <a:endParaRPr lang="en-US"/>
            </a:p>
          </p:txBody>
        </p:sp>
      </p:grpSp>
      <p:sp>
        <p:nvSpPr>
          <p:cNvPr id="7" name="Freeform 7">
            <a:extLst>
              <a:ext uri="{FF2B5EF4-FFF2-40B4-BE49-F238E27FC236}">
                <a16:creationId xmlns:a16="http://schemas.microsoft.com/office/drawing/2014/main" id="{48729345-411B-DFC0-C34E-C9FA51B72C25}"/>
              </a:ext>
            </a:extLst>
          </p:cNvPr>
          <p:cNvSpPr/>
          <p:nvPr/>
        </p:nvSpPr>
        <p:spPr>
          <a:xfrm rot="-1243576">
            <a:off x="-7030019" y="616289"/>
            <a:ext cx="19724024" cy="824823"/>
          </a:xfrm>
          <a:custGeom>
            <a:avLst/>
            <a:gdLst/>
            <a:ahLst/>
            <a:cxnLst/>
            <a:rect l="l" t="t" r="r" b="b"/>
            <a:pathLst>
              <a:path w="19724024" h="824823">
                <a:moveTo>
                  <a:pt x="0" y="0"/>
                </a:moveTo>
                <a:lnTo>
                  <a:pt x="19724024" y="0"/>
                </a:lnTo>
                <a:lnTo>
                  <a:pt x="19724024" y="824822"/>
                </a:lnTo>
                <a:lnTo>
                  <a:pt x="0" y="82482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EBFCD110-097B-329F-DEB8-1D516E008826}"/>
              </a:ext>
            </a:extLst>
          </p:cNvPr>
          <p:cNvSpPr/>
          <p:nvPr/>
        </p:nvSpPr>
        <p:spPr>
          <a:xfrm rot="2442344">
            <a:off x="15959675" y="920076"/>
            <a:ext cx="498939" cy="813487"/>
          </a:xfrm>
          <a:custGeom>
            <a:avLst/>
            <a:gdLst/>
            <a:ahLst/>
            <a:cxnLst/>
            <a:rect l="l" t="t" r="r" b="b"/>
            <a:pathLst>
              <a:path w="498939" h="813487">
                <a:moveTo>
                  <a:pt x="0" y="0"/>
                </a:moveTo>
                <a:lnTo>
                  <a:pt x="498938" y="0"/>
                </a:lnTo>
                <a:lnTo>
                  <a:pt x="498938" y="813487"/>
                </a:lnTo>
                <a:lnTo>
                  <a:pt x="0" y="81348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TextBox 9">
            <a:extLst>
              <a:ext uri="{FF2B5EF4-FFF2-40B4-BE49-F238E27FC236}">
                <a16:creationId xmlns:a16="http://schemas.microsoft.com/office/drawing/2014/main" id="{9F69EEE5-8F68-0C66-FA0D-36C53F8D86FF}"/>
              </a:ext>
            </a:extLst>
          </p:cNvPr>
          <p:cNvSpPr txBox="1"/>
          <p:nvPr/>
        </p:nvSpPr>
        <p:spPr>
          <a:xfrm>
            <a:off x="1284779" y="2219623"/>
            <a:ext cx="9129224" cy="2923877"/>
          </a:xfrm>
          <a:prstGeom prst="rect">
            <a:avLst/>
          </a:prstGeom>
        </p:spPr>
        <p:txBody>
          <a:bodyPr wrap="square" lIns="0" tIns="0" rIns="0" bIns="0" rtlCol="0" anchor="t">
            <a:spAutoFit/>
          </a:bodyPr>
          <a:lstStyle/>
          <a:p>
            <a:pPr algn="l">
              <a:lnSpc>
                <a:spcPts val="11368"/>
              </a:lnSpc>
            </a:pPr>
            <a:r>
              <a:rPr lang="en-US" sz="9634" dirty="0">
                <a:solidFill>
                  <a:srgbClr val="FFFFFF"/>
                </a:solidFill>
                <a:latin typeface="Handelson Six"/>
                <a:ea typeface="Handelson Six"/>
                <a:cs typeface="Handelson Six"/>
                <a:sym typeface="Handelson Six"/>
              </a:rPr>
              <a:t>practical implications</a:t>
            </a:r>
          </a:p>
        </p:txBody>
      </p:sp>
      <p:sp>
        <p:nvSpPr>
          <p:cNvPr id="10" name="TextBox 10">
            <a:extLst>
              <a:ext uri="{FF2B5EF4-FFF2-40B4-BE49-F238E27FC236}">
                <a16:creationId xmlns:a16="http://schemas.microsoft.com/office/drawing/2014/main" id="{6A94AFE8-CB7F-36DF-7A83-72FCB280536B}"/>
              </a:ext>
            </a:extLst>
          </p:cNvPr>
          <p:cNvSpPr txBox="1"/>
          <p:nvPr/>
        </p:nvSpPr>
        <p:spPr>
          <a:xfrm>
            <a:off x="755816" y="5179942"/>
            <a:ext cx="10758903" cy="4861086"/>
          </a:xfrm>
          <a:prstGeom prst="rect">
            <a:avLst/>
          </a:prstGeom>
        </p:spPr>
        <p:txBody>
          <a:bodyPr wrap="square" lIns="0" tIns="0" rIns="0" bIns="0" rtlCol="0" anchor="t">
            <a:spAutoFit/>
          </a:bodyPr>
          <a:lstStyle/>
          <a:p>
            <a:pPr marL="457200" indent="-457200">
              <a:buFont typeface="Arial"/>
              <a:buChar char="•"/>
            </a:pPr>
            <a:r>
              <a:rPr lang="en-US" sz="2600" spc="62" dirty="0">
                <a:solidFill>
                  <a:srgbClr val="FFFFFF"/>
                </a:solidFill>
                <a:latin typeface="Bitter"/>
                <a:ea typeface="Bitter"/>
                <a:cs typeface="Bitter"/>
                <a:sym typeface="Bitter"/>
              </a:rPr>
              <a:t>311 data is useful for identifying community needs</a:t>
            </a:r>
            <a:br>
              <a:rPr lang="en-US" sz="2600" spc="62" dirty="0">
                <a:solidFill>
                  <a:srgbClr val="FFFFFF"/>
                </a:solidFill>
                <a:latin typeface="Bitter"/>
                <a:ea typeface="Bitter"/>
                <a:cs typeface="Bitter"/>
                <a:sym typeface="Bitter"/>
              </a:rPr>
            </a:br>
            <a:r>
              <a:rPr lang="en-US" sz="2600" spc="62" dirty="0">
                <a:solidFill>
                  <a:srgbClr val="FFFFFF"/>
                </a:solidFill>
                <a:latin typeface="Bitter"/>
                <a:ea typeface="Bitter"/>
                <a:cs typeface="Bitter"/>
                <a:sym typeface="Bitter"/>
              </a:rPr>
              <a:t> </a:t>
            </a:r>
            <a:endParaRPr lang="en-US" dirty="0">
              <a:ea typeface="Calibri"/>
              <a:cs typeface="Calibri"/>
            </a:endParaRPr>
          </a:p>
          <a:p>
            <a:pPr marL="457200" indent="-457200">
              <a:buFont typeface="Arial"/>
              <a:buChar char="•"/>
            </a:pPr>
            <a:r>
              <a:rPr lang="en-US" sz="2600" spc="62">
                <a:solidFill>
                  <a:srgbClr val="FFFFFF"/>
                </a:solidFill>
                <a:latin typeface="Bitter"/>
                <a:ea typeface="Bitter"/>
                <a:cs typeface="Bitter"/>
                <a:sym typeface="Bitter"/>
              </a:rPr>
              <a:t>Cities can use 311 data for service planning and resource allocation</a:t>
            </a:r>
            <a:br>
              <a:rPr lang="en-US" sz="2600" spc="62" dirty="0">
                <a:solidFill>
                  <a:srgbClr val="FFFFFF"/>
                </a:solidFill>
                <a:latin typeface="Bitter"/>
                <a:ea typeface="Bitter"/>
                <a:cs typeface="Bitter"/>
                <a:sym typeface="Bitter"/>
              </a:rPr>
            </a:br>
            <a:r>
              <a:rPr lang="en-US" sz="2600" spc="62" dirty="0">
                <a:solidFill>
                  <a:srgbClr val="FFFFFF"/>
                </a:solidFill>
                <a:latin typeface="Bitter"/>
                <a:ea typeface="Bitter"/>
                <a:cs typeface="Bitter"/>
                <a:sym typeface="Bitter"/>
              </a:rPr>
              <a:t> </a:t>
            </a:r>
            <a:endParaRPr lang="en-US" dirty="0">
              <a:ea typeface="Calibri"/>
              <a:cs typeface="Calibri"/>
            </a:endParaRPr>
          </a:p>
          <a:p>
            <a:pPr marL="457200" indent="-457200">
              <a:buFont typeface="Arial"/>
              <a:buChar char="•"/>
            </a:pPr>
            <a:r>
              <a:rPr lang="en-US" sz="2600" spc="62">
                <a:solidFill>
                  <a:srgbClr val="FFFFFF"/>
                </a:solidFill>
                <a:latin typeface="Bitter"/>
                <a:ea typeface="Bitter"/>
                <a:cs typeface="Bitter"/>
                <a:sym typeface="Bitter"/>
              </a:rPr>
              <a:t>Helps detect local issues before they escalate</a:t>
            </a:r>
            <a:br>
              <a:rPr lang="en-US" sz="2600" spc="62" dirty="0">
                <a:solidFill>
                  <a:srgbClr val="FFFFFF"/>
                </a:solidFill>
                <a:latin typeface="Bitter"/>
                <a:ea typeface="Bitter"/>
                <a:cs typeface="Bitter"/>
                <a:sym typeface="Bitter"/>
              </a:rPr>
            </a:br>
            <a:r>
              <a:rPr lang="en-US" sz="2600" spc="62" dirty="0">
                <a:solidFill>
                  <a:srgbClr val="FFFFFF"/>
                </a:solidFill>
                <a:latin typeface="Bitter"/>
                <a:ea typeface="Bitter"/>
                <a:cs typeface="Bitter"/>
                <a:sym typeface="Bitter"/>
              </a:rPr>
              <a:t> </a:t>
            </a:r>
            <a:endParaRPr lang="en-US" dirty="0">
              <a:ea typeface="Calibri"/>
              <a:cs typeface="Calibri"/>
            </a:endParaRPr>
          </a:p>
          <a:p>
            <a:pPr marL="457200" indent="-457200">
              <a:buFont typeface="Arial"/>
              <a:buChar char="•"/>
            </a:pPr>
            <a:r>
              <a:rPr lang="en-US" sz="2600" spc="62">
                <a:solidFill>
                  <a:srgbClr val="FFFFFF"/>
                </a:solidFill>
                <a:latin typeface="Bitter"/>
                <a:ea typeface="Bitter"/>
                <a:cs typeface="Bitter"/>
                <a:sym typeface="Bitter"/>
              </a:rPr>
              <a:t>Should NOT be used as a direct indicator of crime trends</a:t>
            </a:r>
            <a:br>
              <a:rPr lang="en-US" sz="2600" spc="62" dirty="0">
                <a:solidFill>
                  <a:srgbClr val="FFFFFF"/>
                </a:solidFill>
                <a:latin typeface="Bitter"/>
                <a:ea typeface="Bitter"/>
                <a:cs typeface="Bitter"/>
                <a:sym typeface="Bitter"/>
              </a:rPr>
            </a:br>
            <a:r>
              <a:rPr lang="en-US" sz="2600" spc="62" dirty="0">
                <a:solidFill>
                  <a:srgbClr val="FFFFFF"/>
                </a:solidFill>
                <a:latin typeface="Bitter"/>
                <a:ea typeface="Bitter"/>
                <a:cs typeface="Bitter"/>
                <a:sym typeface="Bitter"/>
              </a:rPr>
              <a:t> </a:t>
            </a:r>
            <a:endParaRPr lang="en-US" dirty="0">
              <a:ea typeface="Calibri"/>
              <a:cs typeface="Calibri"/>
            </a:endParaRPr>
          </a:p>
          <a:p>
            <a:pPr marL="457200" indent="-457200">
              <a:buFont typeface="Arial"/>
              <a:buChar char="•"/>
            </a:pPr>
            <a:r>
              <a:rPr lang="en-US" sz="2600" spc="62">
                <a:solidFill>
                  <a:srgbClr val="FFFFFF"/>
                </a:solidFill>
                <a:latin typeface="Bitter"/>
                <a:ea typeface="Bitter"/>
                <a:cs typeface="Bitter"/>
                <a:sym typeface="Bitter"/>
              </a:rPr>
              <a:t>Combining</a:t>
            </a:r>
            <a:r>
              <a:rPr lang="en-US" sz="2600" spc="62" dirty="0">
                <a:solidFill>
                  <a:srgbClr val="FFFFFF"/>
                </a:solidFill>
                <a:latin typeface="Bitter"/>
                <a:ea typeface="Bitter"/>
                <a:cs typeface="Bitter"/>
                <a:sym typeface="Bitter"/>
              </a:rPr>
              <a:t> datasets gives a more complete picture of communities</a:t>
            </a:r>
            <a:endParaRPr lang="en-US" dirty="0">
              <a:ea typeface="Calibri"/>
              <a:cs typeface="Calibri"/>
            </a:endParaRPr>
          </a:p>
          <a:p>
            <a:pPr marL="457200" indent="-457200" algn="l">
              <a:lnSpc>
                <a:spcPts val="3653"/>
              </a:lnSpc>
              <a:buFont typeface="Arial" panose="020B0604020202020204" pitchFamily="34" charset="0"/>
              <a:buChar char="•"/>
            </a:pPr>
            <a:endParaRPr lang="en-US" sz="2600" spc="62" dirty="0">
              <a:solidFill>
                <a:srgbClr val="FFFFFF"/>
              </a:solidFill>
              <a:latin typeface="Bitter"/>
              <a:ea typeface="Bitter"/>
              <a:cs typeface="Bitter"/>
            </a:endParaRPr>
          </a:p>
        </p:txBody>
      </p:sp>
    </p:spTree>
    <p:extLst>
      <p:ext uri="{BB962C8B-B14F-4D97-AF65-F5344CB8AC3E}">
        <p14:creationId xmlns:p14="http://schemas.microsoft.com/office/powerpoint/2010/main" val="3142900325"/>
      </p:ext>
    </p:extLst>
  </p:cSld>
  <p:clrMapOvr>
    <a:masterClrMapping/>
  </p:clrMapOvr>
  <mc:AlternateContent xmlns:mc="http://schemas.openxmlformats.org/markup-compatibility/2006">
    <mc:Choice xmlns:p14="http://schemas.microsoft.com/office/powerpoint/2010/main" Requires="p14">
      <p:transition spd="slow" p14:dur="2000" advTm="45277"/>
    </mc:Choice>
    <mc:Fallback>
      <p:transition spd="slow" advTm="45277"/>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9BADC-9E94-CD77-506C-271CFB28740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2A8560F-8A6F-5D68-FD18-C842E99735E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grpSp>
        <p:nvGrpSpPr>
          <p:cNvPr id="3" name="Group 3">
            <a:extLst>
              <a:ext uri="{FF2B5EF4-FFF2-40B4-BE49-F238E27FC236}">
                <a16:creationId xmlns:a16="http://schemas.microsoft.com/office/drawing/2014/main" id="{D160CDA3-6FDC-9739-4135-ADC24BD47688}"/>
              </a:ext>
            </a:extLst>
          </p:cNvPr>
          <p:cNvGrpSpPr/>
          <p:nvPr/>
        </p:nvGrpSpPr>
        <p:grpSpPr>
          <a:xfrm rot="390979">
            <a:off x="1910007" y="2050060"/>
            <a:ext cx="6241597" cy="6473298"/>
            <a:chOff x="0" y="0"/>
            <a:chExt cx="1130596" cy="1172566"/>
          </a:xfrm>
        </p:grpSpPr>
        <p:sp>
          <p:nvSpPr>
            <p:cNvPr id="4" name="Freeform 4">
              <a:extLst>
                <a:ext uri="{FF2B5EF4-FFF2-40B4-BE49-F238E27FC236}">
                  <a16:creationId xmlns:a16="http://schemas.microsoft.com/office/drawing/2014/main" id="{80938705-0C60-AFE5-0304-E7910B9EB306}"/>
                </a:ext>
              </a:extLst>
            </p:cNvPr>
            <p:cNvSpPr/>
            <p:nvPr/>
          </p:nvSpPr>
          <p:spPr>
            <a:xfrm>
              <a:off x="0" y="0"/>
              <a:ext cx="1130596" cy="1172566"/>
            </a:xfrm>
            <a:custGeom>
              <a:avLst/>
              <a:gdLst/>
              <a:ahLst/>
              <a:cxnLst/>
              <a:rect l="l" t="t" r="r" b="b"/>
              <a:pathLst>
                <a:path w="1130596" h="1172566">
                  <a:moveTo>
                    <a:pt x="0" y="0"/>
                  </a:moveTo>
                  <a:lnTo>
                    <a:pt x="1130596" y="0"/>
                  </a:lnTo>
                  <a:lnTo>
                    <a:pt x="1130596" y="1172566"/>
                  </a:lnTo>
                  <a:lnTo>
                    <a:pt x="0" y="1172566"/>
                  </a:lnTo>
                  <a:close/>
                </a:path>
              </a:pathLst>
            </a:custGeom>
            <a:blipFill>
              <a:blip r:embed="rId4"/>
              <a:stretch>
                <a:fillRect t="-10217" b="-34503"/>
              </a:stretch>
            </a:blipFill>
            <a:ln w="57150" cap="sq">
              <a:solidFill>
                <a:srgbClr val="000000"/>
              </a:solidFill>
              <a:prstDash val="solid"/>
              <a:miter/>
            </a:ln>
          </p:spPr>
          <p:txBody>
            <a:bodyPr/>
            <a:lstStyle/>
            <a:p>
              <a:endParaRPr lang="en-US"/>
            </a:p>
          </p:txBody>
        </p:sp>
      </p:grpSp>
      <p:sp>
        <p:nvSpPr>
          <p:cNvPr id="5" name="TextBox 5">
            <a:extLst>
              <a:ext uri="{FF2B5EF4-FFF2-40B4-BE49-F238E27FC236}">
                <a16:creationId xmlns:a16="http://schemas.microsoft.com/office/drawing/2014/main" id="{142B9033-71A0-DF59-03E4-140400BC51B7}"/>
              </a:ext>
            </a:extLst>
          </p:cNvPr>
          <p:cNvSpPr txBox="1"/>
          <p:nvPr/>
        </p:nvSpPr>
        <p:spPr>
          <a:xfrm>
            <a:off x="9523780" y="2394887"/>
            <a:ext cx="7453786" cy="1308050"/>
          </a:xfrm>
          <a:prstGeom prst="rect">
            <a:avLst/>
          </a:prstGeom>
        </p:spPr>
        <p:txBody>
          <a:bodyPr lIns="0" tIns="0" rIns="0" bIns="0" rtlCol="0" anchor="t">
            <a:spAutoFit/>
          </a:bodyPr>
          <a:lstStyle/>
          <a:p>
            <a:pPr algn="l">
              <a:lnSpc>
                <a:spcPts val="10180"/>
              </a:lnSpc>
            </a:pPr>
            <a:r>
              <a:rPr lang="en-US" sz="9695">
                <a:solidFill>
                  <a:srgbClr val="000000"/>
                </a:solidFill>
                <a:latin typeface="Handelson Six"/>
                <a:ea typeface="Handelson Six"/>
                <a:cs typeface="Handelson Six"/>
                <a:sym typeface="Handelson Six"/>
              </a:rPr>
              <a:t>conclusion</a:t>
            </a:r>
          </a:p>
        </p:txBody>
      </p:sp>
      <p:sp>
        <p:nvSpPr>
          <p:cNvPr id="6" name="TextBox 6">
            <a:extLst>
              <a:ext uri="{FF2B5EF4-FFF2-40B4-BE49-F238E27FC236}">
                <a16:creationId xmlns:a16="http://schemas.microsoft.com/office/drawing/2014/main" id="{B9CA5689-2E82-4B7B-8886-956B66466746}"/>
              </a:ext>
            </a:extLst>
          </p:cNvPr>
          <p:cNvSpPr txBox="1"/>
          <p:nvPr/>
        </p:nvSpPr>
        <p:spPr>
          <a:xfrm>
            <a:off x="9523780" y="4197006"/>
            <a:ext cx="6534648" cy="4206664"/>
          </a:xfrm>
          <a:prstGeom prst="rect">
            <a:avLst/>
          </a:prstGeom>
        </p:spPr>
        <p:txBody>
          <a:bodyPr lIns="0" tIns="0" rIns="0" bIns="0" rtlCol="0" anchor="t">
            <a:spAutoFit/>
          </a:bodyPr>
          <a:lstStyle/>
          <a:p>
            <a:pPr marL="342900" indent="-342900" algn="l">
              <a:lnSpc>
                <a:spcPts val="3318"/>
              </a:lnSpc>
              <a:buFont typeface="Arial" panose="020B0604020202020204" pitchFamily="34" charset="0"/>
              <a:buChar char="•"/>
            </a:pPr>
            <a:r>
              <a:rPr lang="en-US" sz="2370" spc="56" dirty="0">
                <a:solidFill>
                  <a:srgbClr val="000000"/>
                </a:solidFill>
                <a:latin typeface="Bitter"/>
                <a:ea typeface="Bitter"/>
                <a:cs typeface="Bitter"/>
                <a:sym typeface="Bitter"/>
              </a:rPr>
              <a:t>Complaints and crime trends are related but not identical</a:t>
            </a:r>
            <a:br>
              <a:rPr lang="en-US" sz="2370" spc="56" dirty="0">
                <a:solidFill>
                  <a:srgbClr val="000000"/>
                </a:solidFill>
                <a:latin typeface="Bitter"/>
                <a:ea typeface="Bitter"/>
                <a:cs typeface="Bitter"/>
                <a:sym typeface="Bitter"/>
              </a:rPr>
            </a:br>
            <a:endParaRPr lang="en-US" sz="2370" spc="56" dirty="0">
              <a:solidFill>
                <a:srgbClr val="000000"/>
              </a:solidFill>
              <a:latin typeface="Bitter"/>
              <a:ea typeface="Bitter"/>
              <a:cs typeface="Bitter"/>
              <a:sym typeface="Bitter"/>
            </a:endParaRPr>
          </a:p>
          <a:p>
            <a:pPr marL="342900" indent="-342900">
              <a:lnSpc>
                <a:spcPts val="3318"/>
              </a:lnSpc>
              <a:buFont typeface="Arial" panose="020B0604020202020204" pitchFamily="34" charset="0"/>
              <a:buChar char="•"/>
            </a:pPr>
            <a:r>
              <a:rPr lang="en-US" sz="2350" spc="56" dirty="0">
                <a:solidFill>
                  <a:srgbClr val="000000"/>
                </a:solidFill>
                <a:latin typeface="Bitter"/>
                <a:ea typeface="Bitter"/>
                <a:cs typeface="Bitter"/>
              </a:rPr>
              <a:t>Property crime shows a downward trend</a:t>
            </a:r>
            <a:br>
              <a:rPr lang="en-US" sz="2350" spc="56" dirty="0">
                <a:solidFill>
                  <a:srgbClr val="000000"/>
                </a:solidFill>
                <a:latin typeface="Bitter"/>
                <a:ea typeface="Bitter"/>
                <a:cs typeface="Bitter"/>
              </a:rPr>
            </a:br>
            <a:endParaRPr lang="en-US" sz="2350" spc="56" dirty="0">
              <a:solidFill>
                <a:srgbClr val="000000"/>
              </a:solidFill>
              <a:latin typeface="Bitter"/>
              <a:ea typeface="Bitter"/>
              <a:cs typeface="Bitter"/>
            </a:endParaRPr>
          </a:p>
          <a:p>
            <a:pPr marL="342900" indent="-342900">
              <a:lnSpc>
                <a:spcPts val="3318"/>
              </a:lnSpc>
              <a:buFont typeface="Arial" panose="020B0604020202020204" pitchFamily="34" charset="0"/>
              <a:buChar char="•"/>
            </a:pPr>
            <a:r>
              <a:rPr lang="en-US" sz="2350" spc="56" dirty="0">
                <a:solidFill>
                  <a:srgbClr val="000000"/>
                </a:solidFill>
                <a:latin typeface="Bitter"/>
                <a:ea typeface="Bitter"/>
                <a:cs typeface="Bitter"/>
              </a:rPr>
              <a:t>Complaints more commonly focus on public service</a:t>
            </a:r>
            <a:br>
              <a:rPr lang="en-US" sz="2350" spc="56" dirty="0">
                <a:solidFill>
                  <a:srgbClr val="000000"/>
                </a:solidFill>
                <a:latin typeface="Bitter"/>
                <a:ea typeface="Bitter"/>
                <a:cs typeface="Bitter"/>
              </a:rPr>
            </a:br>
            <a:endParaRPr lang="en-US" sz="2350" spc="56" dirty="0">
              <a:solidFill>
                <a:srgbClr val="000000"/>
              </a:solidFill>
              <a:latin typeface="Bitter"/>
              <a:ea typeface="Bitter"/>
              <a:cs typeface="Bitter"/>
              <a:sym typeface="Bitter"/>
            </a:endParaRPr>
          </a:p>
          <a:p>
            <a:pPr marL="342900" indent="-342900" algn="l">
              <a:lnSpc>
                <a:spcPts val="3318"/>
              </a:lnSpc>
              <a:buFont typeface="Arial" panose="020B0604020202020204" pitchFamily="34" charset="0"/>
              <a:buChar char="•"/>
            </a:pPr>
            <a:r>
              <a:rPr lang="en-US" sz="2370" spc="56" dirty="0">
                <a:solidFill>
                  <a:srgbClr val="000000"/>
                </a:solidFill>
                <a:latin typeface="Bitter"/>
                <a:ea typeface="Bitter"/>
                <a:cs typeface="Bitter"/>
                <a:sym typeface="Bitter"/>
              </a:rPr>
              <a:t>Data provides insight into community behavior and safety</a:t>
            </a:r>
          </a:p>
        </p:txBody>
      </p:sp>
      <p:sp>
        <p:nvSpPr>
          <p:cNvPr id="7" name="Freeform 7">
            <a:extLst>
              <a:ext uri="{FF2B5EF4-FFF2-40B4-BE49-F238E27FC236}">
                <a16:creationId xmlns:a16="http://schemas.microsoft.com/office/drawing/2014/main" id="{C69AAEE5-4B5B-84DC-F599-CC885E3277FE}"/>
              </a:ext>
            </a:extLst>
          </p:cNvPr>
          <p:cNvSpPr/>
          <p:nvPr/>
        </p:nvSpPr>
        <p:spPr>
          <a:xfrm rot="-1908664">
            <a:off x="2097545" y="1272724"/>
            <a:ext cx="617308" cy="1006481"/>
          </a:xfrm>
          <a:custGeom>
            <a:avLst/>
            <a:gdLst/>
            <a:ahLst/>
            <a:cxnLst/>
            <a:rect l="l" t="t" r="r" b="b"/>
            <a:pathLst>
              <a:path w="617308" h="1006481">
                <a:moveTo>
                  <a:pt x="0" y="0"/>
                </a:moveTo>
                <a:lnTo>
                  <a:pt x="617308" y="0"/>
                </a:lnTo>
                <a:lnTo>
                  <a:pt x="617308" y="1006481"/>
                </a:lnTo>
                <a:lnTo>
                  <a:pt x="0" y="10064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C7028F0D-871E-0CDF-4C14-CAF54646C258}"/>
              </a:ext>
            </a:extLst>
          </p:cNvPr>
          <p:cNvSpPr/>
          <p:nvPr/>
        </p:nvSpPr>
        <p:spPr>
          <a:xfrm rot="-1858277">
            <a:off x="3836962" y="9213281"/>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21AC26FA-DCE1-8071-656D-36CE67253350}"/>
              </a:ext>
            </a:extLst>
          </p:cNvPr>
          <p:cNvSpPr/>
          <p:nvPr/>
        </p:nvSpPr>
        <p:spPr>
          <a:xfrm rot="-1062782">
            <a:off x="7153654" y="9029585"/>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extLst>
      <p:ext uri="{BB962C8B-B14F-4D97-AF65-F5344CB8AC3E}">
        <p14:creationId xmlns:p14="http://schemas.microsoft.com/office/powerpoint/2010/main" val="1136118934"/>
      </p:ext>
    </p:extLst>
  </p:cSld>
  <p:clrMapOvr>
    <a:masterClrMapping/>
  </p:clrMapOvr>
  <mc:AlternateContent xmlns:mc="http://schemas.openxmlformats.org/markup-compatibility/2006">
    <mc:Choice xmlns:p14="http://schemas.microsoft.com/office/powerpoint/2010/main" Requires="p14">
      <p:transition spd="slow" p14:dur="2000" advTm="32891"/>
    </mc:Choice>
    <mc:Fallback>
      <p:transition spd="slow" advTm="3289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dirty="0"/>
          </a:p>
        </p:txBody>
      </p:sp>
      <p:sp>
        <p:nvSpPr>
          <p:cNvPr id="3" name="Freeform 3"/>
          <p:cNvSpPr/>
          <p:nvPr/>
        </p:nvSpPr>
        <p:spPr>
          <a:xfrm rot="986064">
            <a:off x="6075516" y="212523"/>
            <a:ext cx="3372538" cy="3305087"/>
          </a:xfrm>
          <a:custGeom>
            <a:avLst/>
            <a:gdLst/>
            <a:ahLst/>
            <a:cxnLst/>
            <a:rect l="l" t="t" r="r" b="b"/>
            <a:pathLst>
              <a:path w="3372538" h="3305087">
                <a:moveTo>
                  <a:pt x="0" y="0"/>
                </a:moveTo>
                <a:lnTo>
                  <a:pt x="3372538" y="0"/>
                </a:lnTo>
                <a:lnTo>
                  <a:pt x="3372538" y="3305087"/>
                </a:lnTo>
                <a:lnTo>
                  <a:pt x="0" y="330508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rot="1031970">
            <a:off x="11502128" y="760053"/>
            <a:ext cx="3372538" cy="3305087"/>
          </a:xfrm>
          <a:custGeom>
            <a:avLst/>
            <a:gdLst/>
            <a:ahLst/>
            <a:cxnLst/>
            <a:rect l="l" t="t" r="r" b="b"/>
            <a:pathLst>
              <a:path w="3372538" h="3305087">
                <a:moveTo>
                  <a:pt x="0" y="0"/>
                </a:moveTo>
                <a:lnTo>
                  <a:pt x="3372538" y="0"/>
                </a:lnTo>
                <a:lnTo>
                  <a:pt x="3372538" y="3305087"/>
                </a:lnTo>
                <a:lnTo>
                  <a:pt x="0" y="330508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1360223">
            <a:off x="8559546" y="7163102"/>
            <a:ext cx="3372538" cy="3305087"/>
          </a:xfrm>
          <a:custGeom>
            <a:avLst/>
            <a:gdLst/>
            <a:ahLst/>
            <a:cxnLst/>
            <a:rect l="l" t="t" r="r" b="b"/>
            <a:pathLst>
              <a:path w="3372538" h="3305087">
                <a:moveTo>
                  <a:pt x="0" y="0"/>
                </a:moveTo>
                <a:lnTo>
                  <a:pt x="3372538" y="0"/>
                </a:lnTo>
                <a:lnTo>
                  <a:pt x="3372538" y="3305087"/>
                </a:lnTo>
                <a:lnTo>
                  <a:pt x="0" y="330508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565184">
            <a:off x="13778615" y="6089451"/>
            <a:ext cx="3372538" cy="3305087"/>
          </a:xfrm>
          <a:custGeom>
            <a:avLst/>
            <a:gdLst/>
            <a:ahLst/>
            <a:cxnLst/>
            <a:rect l="l" t="t" r="r" b="b"/>
            <a:pathLst>
              <a:path w="3372538" h="3305087">
                <a:moveTo>
                  <a:pt x="0" y="0"/>
                </a:moveTo>
                <a:lnTo>
                  <a:pt x="3372538" y="0"/>
                </a:lnTo>
                <a:lnTo>
                  <a:pt x="3372538" y="3305088"/>
                </a:lnTo>
                <a:lnTo>
                  <a:pt x="0" y="330508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rot="1005880">
            <a:off x="11986398" y="1192890"/>
            <a:ext cx="2403998" cy="2439413"/>
            <a:chOff x="0" y="0"/>
            <a:chExt cx="651554" cy="661152"/>
          </a:xfrm>
        </p:grpSpPr>
        <p:sp>
          <p:nvSpPr>
            <p:cNvPr id="8" name="Freeform 8"/>
            <p:cNvSpPr/>
            <p:nvPr/>
          </p:nvSpPr>
          <p:spPr>
            <a:xfrm>
              <a:off x="0" y="0"/>
              <a:ext cx="651554" cy="661152"/>
            </a:xfrm>
            <a:custGeom>
              <a:avLst/>
              <a:gdLst/>
              <a:ahLst/>
              <a:cxnLst/>
              <a:rect l="l" t="t" r="r" b="b"/>
              <a:pathLst>
                <a:path w="651554" h="661152">
                  <a:moveTo>
                    <a:pt x="0" y="0"/>
                  </a:moveTo>
                  <a:lnTo>
                    <a:pt x="651554" y="0"/>
                  </a:lnTo>
                  <a:lnTo>
                    <a:pt x="651554" y="661152"/>
                  </a:lnTo>
                  <a:lnTo>
                    <a:pt x="0" y="661152"/>
                  </a:lnTo>
                  <a:close/>
                </a:path>
              </a:pathLst>
            </a:custGeom>
            <a:blipFill>
              <a:blip r:embed="rId5"/>
              <a:stretch>
                <a:fillRect l="-26152" r="-26152"/>
              </a:stretch>
            </a:blipFill>
            <a:ln w="47625" cap="sq">
              <a:solidFill>
                <a:srgbClr val="000000"/>
              </a:solidFill>
              <a:prstDash val="solid"/>
              <a:miter/>
            </a:ln>
          </p:spPr>
          <p:txBody>
            <a:bodyPr/>
            <a:lstStyle/>
            <a:p>
              <a:endParaRPr lang="en-US"/>
            </a:p>
          </p:txBody>
        </p:sp>
      </p:grpSp>
      <p:sp>
        <p:nvSpPr>
          <p:cNvPr id="9" name="Freeform 9"/>
          <p:cNvSpPr/>
          <p:nvPr/>
        </p:nvSpPr>
        <p:spPr>
          <a:xfrm rot="-887525">
            <a:off x="1241545" y="1148071"/>
            <a:ext cx="3372538" cy="3305087"/>
          </a:xfrm>
          <a:custGeom>
            <a:avLst/>
            <a:gdLst/>
            <a:ahLst/>
            <a:cxnLst/>
            <a:rect l="l" t="t" r="r" b="b"/>
            <a:pathLst>
              <a:path w="3372538" h="3305087">
                <a:moveTo>
                  <a:pt x="0" y="0"/>
                </a:moveTo>
                <a:lnTo>
                  <a:pt x="3372538" y="0"/>
                </a:lnTo>
                <a:lnTo>
                  <a:pt x="3372538" y="3305087"/>
                </a:lnTo>
                <a:lnTo>
                  <a:pt x="0" y="330508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rot="2046468">
            <a:off x="1145885" y="1305998"/>
            <a:ext cx="315754" cy="514816"/>
          </a:xfrm>
          <a:custGeom>
            <a:avLst/>
            <a:gdLst/>
            <a:ahLst/>
            <a:cxnLst/>
            <a:rect l="l" t="t" r="r" b="b"/>
            <a:pathLst>
              <a:path w="315754" h="514816">
                <a:moveTo>
                  <a:pt x="0" y="0"/>
                </a:moveTo>
                <a:lnTo>
                  <a:pt x="315754" y="0"/>
                </a:lnTo>
                <a:lnTo>
                  <a:pt x="315754" y="514817"/>
                </a:lnTo>
                <a:lnTo>
                  <a:pt x="0" y="51481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Freeform 11"/>
          <p:cNvSpPr/>
          <p:nvPr/>
        </p:nvSpPr>
        <p:spPr>
          <a:xfrm rot="2046468">
            <a:off x="12401713" y="320405"/>
            <a:ext cx="315754" cy="514816"/>
          </a:xfrm>
          <a:custGeom>
            <a:avLst/>
            <a:gdLst/>
            <a:ahLst/>
            <a:cxnLst/>
            <a:rect l="l" t="t" r="r" b="b"/>
            <a:pathLst>
              <a:path w="315754" h="514816">
                <a:moveTo>
                  <a:pt x="0" y="0"/>
                </a:moveTo>
                <a:lnTo>
                  <a:pt x="315754" y="0"/>
                </a:lnTo>
                <a:lnTo>
                  <a:pt x="315754" y="514817"/>
                </a:lnTo>
                <a:lnTo>
                  <a:pt x="0" y="51481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Freeform 12"/>
          <p:cNvSpPr/>
          <p:nvPr/>
        </p:nvSpPr>
        <p:spPr>
          <a:xfrm rot="2046468">
            <a:off x="6879935" y="-152785"/>
            <a:ext cx="315754" cy="514816"/>
          </a:xfrm>
          <a:custGeom>
            <a:avLst/>
            <a:gdLst/>
            <a:ahLst/>
            <a:cxnLst/>
            <a:rect l="l" t="t" r="r" b="b"/>
            <a:pathLst>
              <a:path w="315754" h="514816">
                <a:moveTo>
                  <a:pt x="0" y="0"/>
                </a:moveTo>
                <a:lnTo>
                  <a:pt x="315754" y="0"/>
                </a:lnTo>
                <a:lnTo>
                  <a:pt x="315754" y="514816"/>
                </a:lnTo>
                <a:lnTo>
                  <a:pt x="0" y="51481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Freeform 13"/>
          <p:cNvSpPr/>
          <p:nvPr/>
        </p:nvSpPr>
        <p:spPr>
          <a:xfrm rot="2046468">
            <a:off x="8421258" y="7633140"/>
            <a:ext cx="315754" cy="514816"/>
          </a:xfrm>
          <a:custGeom>
            <a:avLst/>
            <a:gdLst/>
            <a:ahLst/>
            <a:cxnLst/>
            <a:rect l="l" t="t" r="r" b="b"/>
            <a:pathLst>
              <a:path w="315754" h="514816">
                <a:moveTo>
                  <a:pt x="0" y="0"/>
                </a:moveTo>
                <a:lnTo>
                  <a:pt x="315754" y="0"/>
                </a:lnTo>
                <a:lnTo>
                  <a:pt x="315754" y="514816"/>
                </a:lnTo>
                <a:lnTo>
                  <a:pt x="0" y="51481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4" name="Freeform 14"/>
          <p:cNvSpPr/>
          <p:nvPr/>
        </p:nvSpPr>
        <p:spPr>
          <a:xfrm rot="2046468">
            <a:off x="14390712" y="5834888"/>
            <a:ext cx="315754" cy="514816"/>
          </a:xfrm>
          <a:custGeom>
            <a:avLst/>
            <a:gdLst/>
            <a:ahLst/>
            <a:cxnLst/>
            <a:rect l="l" t="t" r="r" b="b"/>
            <a:pathLst>
              <a:path w="315754" h="514816">
                <a:moveTo>
                  <a:pt x="0" y="0"/>
                </a:moveTo>
                <a:lnTo>
                  <a:pt x="315754" y="0"/>
                </a:lnTo>
                <a:lnTo>
                  <a:pt x="315754" y="514817"/>
                </a:lnTo>
                <a:lnTo>
                  <a:pt x="0" y="51481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5" name="Freeform 15"/>
          <p:cNvSpPr/>
          <p:nvPr/>
        </p:nvSpPr>
        <p:spPr>
          <a:xfrm rot="1489445">
            <a:off x="10242073" y="1486149"/>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6" name="Freeform 16"/>
          <p:cNvSpPr/>
          <p:nvPr/>
        </p:nvSpPr>
        <p:spPr>
          <a:xfrm rot="1280981">
            <a:off x="-10422729" y="8752920"/>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7" name="Freeform 17"/>
          <p:cNvSpPr/>
          <p:nvPr/>
        </p:nvSpPr>
        <p:spPr>
          <a:xfrm rot="133624" flipH="1">
            <a:off x="15103863" y="2199123"/>
            <a:ext cx="980547" cy="560056"/>
          </a:xfrm>
          <a:custGeom>
            <a:avLst/>
            <a:gdLst/>
            <a:ahLst/>
            <a:cxnLst/>
            <a:rect l="l" t="t" r="r" b="b"/>
            <a:pathLst>
              <a:path w="980547" h="560056">
                <a:moveTo>
                  <a:pt x="980546" y="0"/>
                </a:moveTo>
                <a:lnTo>
                  <a:pt x="0" y="0"/>
                </a:lnTo>
                <a:lnTo>
                  <a:pt x="0" y="560056"/>
                </a:lnTo>
                <a:lnTo>
                  <a:pt x="980546" y="560056"/>
                </a:lnTo>
                <a:lnTo>
                  <a:pt x="980546"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8" name="TextBox 18"/>
          <p:cNvSpPr txBox="1"/>
          <p:nvPr/>
        </p:nvSpPr>
        <p:spPr>
          <a:xfrm>
            <a:off x="14491311" y="3106930"/>
            <a:ext cx="3207218" cy="999108"/>
          </a:xfrm>
          <a:prstGeom prst="rect">
            <a:avLst/>
          </a:prstGeom>
        </p:spPr>
        <p:txBody>
          <a:bodyPr lIns="0" tIns="0" rIns="0" bIns="0" rtlCol="0" anchor="t">
            <a:spAutoFit/>
          </a:bodyPr>
          <a:lstStyle/>
          <a:p>
            <a:pPr algn="ctr">
              <a:lnSpc>
                <a:spcPts val="3847"/>
              </a:lnSpc>
            </a:pPr>
            <a:r>
              <a:rPr lang="en-US" sz="3699">
                <a:solidFill>
                  <a:srgbClr val="000000"/>
                </a:solidFill>
                <a:latin typeface="Lumios Marker"/>
                <a:ea typeface="Lumios Marker"/>
                <a:cs typeface="Lumios Marker"/>
                <a:sym typeface="Lumios Marker"/>
              </a:rPr>
              <a:t>Research</a:t>
            </a:r>
          </a:p>
          <a:p>
            <a:pPr algn="ctr">
              <a:lnSpc>
                <a:spcPts val="3847"/>
              </a:lnSpc>
            </a:pPr>
            <a:r>
              <a:rPr lang="en-US" sz="3699">
                <a:solidFill>
                  <a:srgbClr val="000000"/>
                </a:solidFill>
                <a:latin typeface="Lumios Marker"/>
                <a:ea typeface="Lumios Marker"/>
                <a:cs typeface="Lumios Marker"/>
                <a:sym typeface="Lumios Marker"/>
              </a:rPr>
              <a:t>Team</a:t>
            </a:r>
          </a:p>
        </p:txBody>
      </p:sp>
      <p:sp>
        <p:nvSpPr>
          <p:cNvPr id="19" name="TextBox 19"/>
          <p:cNvSpPr txBox="1"/>
          <p:nvPr/>
        </p:nvSpPr>
        <p:spPr>
          <a:xfrm rot="20596519">
            <a:off x="1396372" y="1843427"/>
            <a:ext cx="3066259" cy="1480534"/>
          </a:xfrm>
          <a:prstGeom prst="rect">
            <a:avLst/>
          </a:prstGeom>
        </p:spPr>
        <p:txBody>
          <a:bodyPr lIns="0" tIns="0" rIns="0" bIns="0" rtlCol="0" anchor="t">
            <a:spAutoFit/>
          </a:bodyPr>
          <a:lstStyle/>
          <a:p>
            <a:pPr algn="ctr">
              <a:lnSpc>
                <a:spcPts val="3847"/>
              </a:lnSpc>
            </a:pPr>
            <a:r>
              <a:rPr lang="en-US" sz="3650">
                <a:solidFill>
                  <a:srgbClr val="000000"/>
                </a:solidFill>
                <a:latin typeface="Lumios Marker"/>
              </a:rPr>
              <a:t>Zara Gonzalez – Project Manager</a:t>
            </a:r>
          </a:p>
          <a:p>
            <a:pPr algn="ctr">
              <a:lnSpc>
                <a:spcPts val="3847"/>
              </a:lnSpc>
            </a:pPr>
            <a:endParaRPr lang="en-US" sz="3650">
              <a:latin typeface="Lumios Marker"/>
            </a:endParaRPr>
          </a:p>
        </p:txBody>
      </p:sp>
      <p:sp>
        <p:nvSpPr>
          <p:cNvPr id="20" name="TextBox 20"/>
          <p:cNvSpPr txBox="1"/>
          <p:nvPr/>
        </p:nvSpPr>
        <p:spPr>
          <a:xfrm rot="20236443">
            <a:off x="8477403" y="8375153"/>
            <a:ext cx="3352765" cy="993221"/>
          </a:xfrm>
          <a:prstGeom prst="rect">
            <a:avLst/>
          </a:prstGeom>
        </p:spPr>
        <p:txBody>
          <a:bodyPr lIns="0" tIns="0" rIns="0" bIns="0" rtlCol="0" anchor="t">
            <a:spAutoFit/>
          </a:bodyPr>
          <a:lstStyle/>
          <a:p>
            <a:pPr algn="ctr">
              <a:lnSpc>
                <a:spcPts val="3847"/>
              </a:lnSpc>
            </a:pPr>
            <a:r>
              <a:rPr lang="en-US" sz="3650">
                <a:solidFill>
                  <a:srgbClr val="000000"/>
                </a:solidFill>
                <a:latin typeface="Lumios Marker"/>
                <a:sym typeface="Lumios Marker"/>
              </a:rPr>
              <a:t>Wesley Huang – Data Engineer</a:t>
            </a:r>
            <a:endParaRPr lang="en-US"/>
          </a:p>
        </p:txBody>
      </p:sp>
      <p:sp>
        <p:nvSpPr>
          <p:cNvPr id="21" name="Freeform 21"/>
          <p:cNvSpPr/>
          <p:nvPr/>
        </p:nvSpPr>
        <p:spPr>
          <a:xfrm rot="3803400">
            <a:off x="-77057" y="3592215"/>
            <a:ext cx="3311761" cy="3892286"/>
          </a:xfrm>
          <a:custGeom>
            <a:avLst/>
            <a:gdLst/>
            <a:ahLst/>
            <a:cxnLst/>
            <a:rect l="l" t="t" r="r" b="b"/>
            <a:pathLst>
              <a:path w="3311761" h="3892286">
                <a:moveTo>
                  <a:pt x="0" y="0"/>
                </a:moveTo>
                <a:lnTo>
                  <a:pt x="3311761" y="0"/>
                </a:lnTo>
                <a:lnTo>
                  <a:pt x="3311761" y="3892286"/>
                </a:lnTo>
                <a:lnTo>
                  <a:pt x="0" y="3892286"/>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2" name="Freeform 22"/>
          <p:cNvSpPr/>
          <p:nvPr/>
        </p:nvSpPr>
        <p:spPr>
          <a:xfrm rot="805338">
            <a:off x="2772729" y="6238004"/>
            <a:ext cx="3372538" cy="3305087"/>
          </a:xfrm>
          <a:custGeom>
            <a:avLst/>
            <a:gdLst/>
            <a:ahLst/>
            <a:cxnLst/>
            <a:rect l="l" t="t" r="r" b="b"/>
            <a:pathLst>
              <a:path w="3372538" h="3305087">
                <a:moveTo>
                  <a:pt x="0" y="0"/>
                </a:moveTo>
                <a:lnTo>
                  <a:pt x="3372538" y="0"/>
                </a:lnTo>
                <a:lnTo>
                  <a:pt x="3372538" y="3305088"/>
                </a:lnTo>
                <a:lnTo>
                  <a:pt x="0" y="330508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3" name="Freeform 23"/>
          <p:cNvSpPr/>
          <p:nvPr/>
        </p:nvSpPr>
        <p:spPr>
          <a:xfrm rot="2046468">
            <a:off x="3482546" y="5935966"/>
            <a:ext cx="315754" cy="514816"/>
          </a:xfrm>
          <a:custGeom>
            <a:avLst/>
            <a:gdLst/>
            <a:ahLst/>
            <a:cxnLst/>
            <a:rect l="l" t="t" r="r" b="b"/>
            <a:pathLst>
              <a:path w="315754" h="514816">
                <a:moveTo>
                  <a:pt x="0" y="0"/>
                </a:moveTo>
                <a:lnTo>
                  <a:pt x="315754" y="0"/>
                </a:lnTo>
                <a:lnTo>
                  <a:pt x="315754" y="514817"/>
                </a:lnTo>
                <a:lnTo>
                  <a:pt x="0" y="51481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4" name="TextBox 24"/>
          <p:cNvSpPr txBox="1"/>
          <p:nvPr/>
        </p:nvSpPr>
        <p:spPr>
          <a:xfrm>
            <a:off x="4904259" y="4019044"/>
            <a:ext cx="8479483" cy="2135969"/>
          </a:xfrm>
          <a:prstGeom prst="rect">
            <a:avLst/>
          </a:prstGeom>
        </p:spPr>
        <p:txBody>
          <a:bodyPr lIns="0" tIns="0" rIns="0" bIns="0" rtlCol="0" anchor="t">
            <a:spAutoFit/>
          </a:bodyPr>
          <a:lstStyle/>
          <a:p>
            <a:pPr algn="ctr">
              <a:lnSpc>
                <a:spcPts val="20094"/>
              </a:lnSpc>
            </a:pPr>
            <a:r>
              <a:rPr lang="en-US" sz="7200" dirty="0">
                <a:solidFill>
                  <a:srgbClr val="000000"/>
                </a:solidFill>
                <a:latin typeface="Handelson Six"/>
                <a:ea typeface="Handelson Six"/>
                <a:cs typeface="Handelson Six"/>
                <a:sym typeface="Handelson Six"/>
              </a:rPr>
              <a:t>team contributions</a:t>
            </a:r>
          </a:p>
        </p:txBody>
      </p:sp>
      <p:sp>
        <p:nvSpPr>
          <p:cNvPr id="25" name="TextBox 25"/>
          <p:cNvSpPr txBox="1"/>
          <p:nvPr/>
        </p:nvSpPr>
        <p:spPr>
          <a:xfrm rot="738839">
            <a:off x="2706908" y="7417203"/>
            <a:ext cx="3413006" cy="993221"/>
          </a:xfrm>
          <a:prstGeom prst="rect">
            <a:avLst/>
          </a:prstGeom>
        </p:spPr>
        <p:txBody>
          <a:bodyPr lIns="0" tIns="0" rIns="0" bIns="0" rtlCol="0" anchor="t">
            <a:spAutoFit/>
          </a:bodyPr>
          <a:lstStyle/>
          <a:p>
            <a:pPr algn="ctr">
              <a:lnSpc>
                <a:spcPts val="3847"/>
              </a:lnSpc>
            </a:pPr>
            <a:r>
              <a:rPr lang="en-US" sz="3650">
                <a:solidFill>
                  <a:srgbClr val="000000"/>
                </a:solidFill>
                <a:latin typeface="Lumios Marker"/>
                <a:sym typeface="Lumios Marker"/>
              </a:rPr>
              <a:t>Johnny Nguyen – Data Engineer</a:t>
            </a:r>
            <a:endParaRPr lang="en-US"/>
          </a:p>
        </p:txBody>
      </p:sp>
      <p:sp>
        <p:nvSpPr>
          <p:cNvPr id="26" name="TextBox 26"/>
          <p:cNvSpPr txBox="1"/>
          <p:nvPr/>
        </p:nvSpPr>
        <p:spPr>
          <a:xfrm rot="970260">
            <a:off x="6105573" y="1355007"/>
            <a:ext cx="3207218" cy="993221"/>
          </a:xfrm>
          <a:prstGeom prst="rect">
            <a:avLst/>
          </a:prstGeom>
        </p:spPr>
        <p:txBody>
          <a:bodyPr lIns="0" tIns="0" rIns="0" bIns="0" rtlCol="0" anchor="t">
            <a:spAutoFit/>
          </a:bodyPr>
          <a:lstStyle/>
          <a:p>
            <a:pPr algn="ctr">
              <a:lnSpc>
                <a:spcPts val="3847"/>
              </a:lnSpc>
            </a:pPr>
            <a:r>
              <a:rPr lang="en-US" sz="3650">
                <a:solidFill>
                  <a:srgbClr val="000000"/>
                </a:solidFill>
                <a:latin typeface="Lumios Marker"/>
                <a:sym typeface="Lumios Marker"/>
              </a:rPr>
              <a:t>Elston Miller - Visuals</a:t>
            </a:r>
            <a:endParaRPr lang="en-US"/>
          </a:p>
        </p:txBody>
      </p:sp>
      <p:sp>
        <p:nvSpPr>
          <p:cNvPr id="27" name="TextBox 27"/>
          <p:cNvSpPr txBox="1"/>
          <p:nvPr/>
        </p:nvSpPr>
        <p:spPr>
          <a:xfrm rot="625194">
            <a:off x="13856968" y="7268805"/>
            <a:ext cx="3207218" cy="993221"/>
          </a:xfrm>
          <a:prstGeom prst="rect">
            <a:avLst/>
          </a:prstGeom>
        </p:spPr>
        <p:txBody>
          <a:bodyPr lIns="0" tIns="0" rIns="0" bIns="0" rtlCol="0" anchor="t">
            <a:spAutoFit/>
          </a:bodyPr>
          <a:lstStyle/>
          <a:p>
            <a:pPr algn="ctr">
              <a:lnSpc>
                <a:spcPts val="3847"/>
              </a:lnSpc>
            </a:pPr>
            <a:r>
              <a:rPr lang="en-US" sz="3650">
                <a:solidFill>
                  <a:srgbClr val="000000"/>
                </a:solidFill>
                <a:latin typeface="Lumios Marker"/>
                <a:sym typeface="Lumios Marker"/>
              </a:rPr>
              <a:t>Nicholas Alex – Text Mining Analyst</a:t>
            </a:r>
            <a:endParaRPr lang="en-US"/>
          </a:p>
        </p:txBody>
      </p:sp>
    </p:spTree>
  </p:cSld>
  <p:clrMapOvr>
    <a:masterClrMapping/>
  </p:clrMapOvr>
  <mc:AlternateContent xmlns:mc="http://schemas.openxmlformats.org/markup-compatibility/2006">
    <mc:Choice xmlns:p14="http://schemas.microsoft.com/office/powerpoint/2010/main" Requires="p14">
      <p:transition spd="slow" p14:dur="2000" advTm="60974"/>
    </mc:Choice>
    <mc:Fallback>
      <p:transition spd="slow" advTm="6097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011" t="-516" r="-2323" b="-27800"/>
            </a:stretch>
          </a:blipFill>
        </p:spPr>
        <p:txBody>
          <a:bodyPr/>
          <a:lstStyle/>
          <a:p>
            <a:endParaRPr lang="en-US"/>
          </a:p>
        </p:txBody>
      </p:sp>
      <p:sp>
        <p:nvSpPr>
          <p:cNvPr id="3" name="Freeform 3"/>
          <p:cNvSpPr/>
          <p:nvPr/>
        </p:nvSpPr>
        <p:spPr>
          <a:xfrm rot="550894">
            <a:off x="-1086540" y="8918016"/>
            <a:ext cx="19724024" cy="824823"/>
          </a:xfrm>
          <a:custGeom>
            <a:avLst/>
            <a:gdLst/>
            <a:ahLst/>
            <a:cxnLst/>
            <a:rect l="l" t="t" r="r" b="b"/>
            <a:pathLst>
              <a:path w="19724024" h="824823">
                <a:moveTo>
                  <a:pt x="0" y="0"/>
                </a:moveTo>
                <a:lnTo>
                  <a:pt x="19724024" y="0"/>
                </a:lnTo>
                <a:lnTo>
                  <a:pt x="19724024" y="824822"/>
                </a:lnTo>
                <a:lnTo>
                  <a:pt x="0" y="82482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rot="-861227">
            <a:off x="-4438231" y="455983"/>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873426">
            <a:off x="1822442" y="1018132"/>
            <a:ext cx="19724024" cy="824823"/>
          </a:xfrm>
          <a:custGeom>
            <a:avLst/>
            <a:gdLst/>
            <a:ahLst/>
            <a:cxnLst/>
            <a:rect l="l" t="t" r="r" b="b"/>
            <a:pathLst>
              <a:path w="19724024" h="824823">
                <a:moveTo>
                  <a:pt x="0" y="0"/>
                </a:moveTo>
                <a:lnTo>
                  <a:pt x="19724024" y="0"/>
                </a:lnTo>
                <a:lnTo>
                  <a:pt x="19724024" y="824822"/>
                </a:lnTo>
                <a:lnTo>
                  <a:pt x="0" y="82482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1243576">
            <a:off x="5544918" y="8607012"/>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rot="1489445">
            <a:off x="9710502" y="2126279"/>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1764344" y="3890605"/>
            <a:ext cx="14759311" cy="3711298"/>
          </a:xfrm>
          <a:prstGeom prst="rect">
            <a:avLst/>
          </a:prstGeom>
        </p:spPr>
        <p:txBody>
          <a:bodyPr lIns="0" tIns="0" rIns="0" bIns="0" rtlCol="0" anchor="t">
            <a:spAutoFit/>
          </a:bodyPr>
          <a:lstStyle/>
          <a:p>
            <a:pPr algn="ctr">
              <a:lnSpc>
                <a:spcPts val="14035"/>
              </a:lnSpc>
            </a:pPr>
            <a:r>
              <a:rPr lang="en-US" sz="15423">
                <a:solidFill>
                  <a:srgbClr val="FFFFFF"/>
                </a:solidFill>
                <a:latin typeface="Handelson Six"/>
                <a:ea typeface="Handelson Six"/>
                <a:cs typeface="Handelson Six"/>
                <a:sym typeface="Handelson Six"/>
              </a:rPr>
              <a:t>Thank you for</a:t>
            </a:r>
          </a:p>
          <a:p>
            <a:pPr algn="ctr">
              <a:lnSpc>
                <a:spcPts val="14035"/>
              </a:lnSpc>
            </a:pPr>
            <a:r>
              <a:rPr lang="en-US" sz="15423">
                <a:solidFill>
                  <a:srgbClr val="FFFFFF"/>
                </a:solidFill>
                <a:latin typeface="Handelson Six"/>
                <a:ea typeface="Handelson Six"/>
                <a:cs typeface="Handelson Six"/>
                <a:sym typeface="Handelson Six"/>
              </a:rPr>
              <a:t>your attention</a:t>
            </a:r>
          </a:p>
        </p:txBody>
      </p:sp>
      <p:sp>
        <p:nvSpPr>
          <p:cNvPr id="9" name="Freeform 9"/>
          <p:cNvSpPr/>
          <p:nvPr/>
        </p:nvSpPr>
        <p:spPr>
          <a:xfrm flipH="1">
            <a:off x="5812484" y="3092116"/>
            <a:ext cx="449463" cy="449463"/>
          </a:xfrm>
          <a:custGeom>
            <a:avLst/>
            <a:gdLst/>
            <a:ahLst/>
            <a:cxnLst/>
            <a:rect l="l" t="t" r="r" b="b"/>
            <a:pathLst>
              <a:path w="449463" h="449463">
                <a:moveTo>
                  <a:pt x="449463" y="0"/>
                </a:moveTo>
                <a:lnTo>
                  <a:pt x="0" y="0"/>
                </a:lnTo>
                <a:lnTo>
                  <a:pt x="0" y="449463"/>
                </a:lnTo>
                <a:lnTo>
                  <a:pt x="449463" y="449463"/>
                </a:lnTo>
                <a:lnTo>
                  <a:pt x="449463"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rot="1280981">
            <a:off x="-9136854" y="8705554"/>
            <a:ext cx="19724024" cy="824823"/>
          </a:xfrm>
          <a:custGeom>
            <a:avLst/>
            <a:gdLst/>
            <a:ahLst/>
            <a:cxnLst/>
            <a:rect l="l" t="t" r="r" b="b"/>
            <a:pathLst>
              <a:path w="19724024" h="824823">
                <a:moveTo>
                  <a:pt x="0" y="0"/>
                </a:moveTo>
                <a:lnTo>
                  <a:pt x="19724024" y="0"/>
                </a:lnTo>
                <a:lnTo>
                  <a:pt x="19724024" y="824823"/>
                </a:lnTo>
                <a:lnTo>
                  <a:pt x="0" y="8248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2000" advTm="10749"/>
    </mc:Choice>
    <mc:Fallback>
      <p:transition spd="slow" advTm="10749"/>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369BA9C3FE438418B39840CE454166E" ma:contentTypeVersion="7" ma:contentTypeDescription="Create a new document." ma:contentTypeScope="" ma:versionID="148ffb7d7436b22d60900974e4832cf0">
  <xsd:schema xmlns:xsd="http://www.w3.org/2001/XMLSchema" xmlns:xs="http://www.w3.org/2001/XMLSchema" xmlns:p="http://schemas.microsoft.com/office/2006/metadata/properties" xmlns:ns2="7e9bb690-12cb-41e2-ade3-39da2e36500c" targetNamespace="http://schemas.microsoft.com/office/2006/metadata/properties" ma:root="true" ma:fieldsID="263e48455a2a2661a9b952b50dbfec45" ns2:_="">
    <xsd:import namespace="7e9bb690-12cb-41e2-ade3-39da2e36500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9bb690-12cb-41e2-ade3-39da2e3650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7C6CE0-1AB9-498E-9D41-11C102EF47EE}">
  <ds:schemaRefs>
    <ds:schemaRef ds:uri="http://schemas.microsoft.com/sharepoint/v3/contenttype/forms"/>
  </ds:schemaRefs>
</ds:datastoreItem>
</file>

<file path=customXml/itemProps2.xml><?xml version="1.0" encoding="utf-8"?>
<ds:datastoreItem xmlns:ds="http://schemas.openxmlformats.org/officeDocument/2006/customXml" ds:itemID="{B0B0038A-F80C-463A-BECF-C1636892D5B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015294C-FA49-4691-91A7-442D386C56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9bb690-12cb-41e2-ade3-39da2e36500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4399</TotalTime>
  <Words>2599</Words>
  <Application>Microsoft Macintosh PowerPoint</Application>
  <PresentationFormat>Custom</PresentationFormat>
  <Paragraphs>256</Paragraphs>
  <Slides>19</Slides>
  <Notes>19</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Bitter</vt:lpstr>
      <vt:lpstr>Lumios Marker</vt:lpstr>
      <vt:lpstr>Bitter Bold</vt:lpstr>
      <vt:lpstr>Courier New</vt:lpstr>
      <vt:lpstr>Handelson Six</vt:lpstr>
      <vt:lpstr>Consolas</vt:lpstr>
      <vt:lpstr>Arial</vt:lpstr>
      <vt:lpstr>Calibri</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Yellow and Black Modern True Crime Presentation</dc:title>
  <cp:lastModifiedBy>Zara Gonzalez</cp:lastModifiedBy>
  <cp:revision>27</cp:revision>
  <cp:lastPrinted>2026-04-26T23:37:59Z</cp:lastPrinted>
  <dcterms:created xsi:type="dcterms:W3CDTF">2006-08-16T00:00:00Z</dcterms:created>
  <dcterms:modified xsi:type="dcterms:W3CDTF">2026-04-27T07:01:18Z</dcterms:modified>
  <dc:identifier>DAHHuyQu8N8</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0x0101003369BA9C3FE438418B39840CE454166E</vt:lpwstr>
  </property>
</Properties>
</file>